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37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2000" b="0" i="0">
                <a:solidFill>
                  <a:schemeClr val="tx1"/>
                </a:solidFill>
                <a:latin typeface="Carlito"/>
                <a:cs typeface="Carlito"/>
              </a:defRPr>
            </a:lvl1p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5" name="Holder 5"/>
          <p:cNvSpPr>
            <a:spLocks noGrp="1"/>
          </p:cNvSpPr>
          <p:nvPr>
            <p:ph type="dt" sz="half" idx="6"/>
          </p:nvPr>
        </p:nvSpPr>
        <p:spPr/>
        <p:txBody>
          <a:bodyPr lIns="0" tIns="0" rIns="0" bIns="0"/>
          <a:lstStyle>
            <a:lvl1pPr>
              <a:defRPr sz="1400" b="1" i="0">
                <a:solidFill>
                  <a:schemeClr val="bg1"/>
                </a:solidFill>
                <a:latin typeface="Bookman Uralic"/>
                <a:cs typeface="Bookman Uralic"/>
              </a:defRPr>
            </a:lvl1p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0099"/>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2000" b="0" i="0">
                <a:solidFill>
                  <a:schemeClr val="tx1"/>
                </a:solidFill>
                <a:latin typeface="Carlito"/>
                <a:cs typeface="Carlito"/>
              </a:defRPr>
            </a:lvl1p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5" name="Holder 5"/>
          <p:cNvSpPr>
            <a:spLocks noGrp="1"/>
          </p:cNvSpPr>
          <p:nvPr>
            <p:ph type="dt" sz="half" idx="6"/>
          </p:nvPr>
        </p:nvSpPr>
        <p:spPr/>
        <p:txBody>
          <a:bodyPr lIns="0" tIns="0" rIns="0" bIns="0"/>
          <a:lstStyle>
            <a:lvl1pPr>
              <a:defRPr sz="1400" b="1" i="0">
                <a:solidFill>
                  <a:schemeClr val="bg1"/>
                </a:solidFill>
                <a:latin typeface="Bookman Uralic"/>
                <a:cs typeface="Bookman Uralic"/>
              </a:defRPr>
            </a:lvl1p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0099"/>
                </a:solidFill>
                <a:latin typeface="Carlito"/>
                <a:cs typeface="Carlito"/>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2000" b="0" i="0">
                <a:solidFill>
                  <a:schemeClr val="tx1"/>
                </a:solidFill>
                <a:latin typeface="Carlito"/>
                <a:cs typeface="Carlito"/>
              </a:defRPr>
            </a:lvl1p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6" name="Holder 6"/>
          <p:cNvSpPr>
            <a:spLocks noGrp="1"/>
          </p:cNvSpPr>
          <p:nvPr>
            <p:ph type="dt" sz="half" idx="6"/>
          </p:nvPr>
        </p:nvSpPr>
        <p:spPr/>
        <p:txBody>
          <a:bodyPr lIns="0" tIns="0" rIns="0" bIns="0"/>
          <a:lstStyle>
            <a:lvl1pPr>
              <a:defRPr sz="1400" b="1" i="0">
                <a:solidFill>
                  <a:schemeClr val="bg1"/>
                </a:solidFill>
                <a:latin typeface="Bookman Uralic"/>
                <a:cs typeface="Bookman Uralic"/>
              </a:defRPr>
            </a:lvl1p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0099"/>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defRPr sz="2000" b="0" i="0">
                <a:solidFill>
                  <a:schemeClr val="tx1"/>
                </a:solidFill>
                <a:latin typeface="Carlito"/>
                <a:cs typeface="Carlito"/>
              </a:defRPr>
            </a:lvl1p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4" name="Holder 4"/>
          <p:cNvSpPr>
            <a:spLocks noGrp="1"/>
          </p:cNvSpPr>
          <p:nvPr>
            <p:ph type="dt" sz="half" idx="6"/>
          </p:nvPr>
        </p:nvSpPr>
        <p:spPr/>
        <p:txBody>
          <a:bodyPr lIns="0" tIns="0" rIns="0" bIns="0"/>
          <a:lstStyle>
            <a:lvl1pPr>
              <a:defRPr sz="1400" b="1" i="0">
                <a:solidFill>
                  <a:schemeClr val="bg1"/>
                </a:solidFill>
                <a:latin typeface="Bookman Uralic"/>
                <a:cs typeface="Bookman Uralic"/>
              </a:defRPr>
            </a:lvl1p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211559" y="71119"/>
            <a:ext cx="830579" cy="810259"/>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3721100" y="6350000"/>
            <a:ext cx="1158240" cy="508000"/>
          </a:xfrm>
          <a:custGeom>
            <a:avLst/>
            <a:gdLst/>
            <a:ahLst/>
            <a:cxnLst/>
            <a:rect l="l" t="t" r="r" b="b"/>
            <a:pathLst>
              <a:path w="1158239" h="508000">
                <a:moveTo>
                  <a:pt x="1158113" y="0"/>
                </a:moveTo>
                <a:lnTo>
                  <a:pt x="251333" y="0"/>
                </a:lnTo>
                <a:lnTo>
                  <a:pt x="0" y="507988"/>
                </a:lnTo>
                <a:lnTo>
                  <a:pt x="906652" y="507988"/>
                </a:lnTo>
                <a:lnTo>
                  <a:pt x="1158113" y="0"/>
                </a:lnTo>
                <a:close/>
              </a:path>
            </a:pathLst>
          </a:custGeom>
          <a:solidFill>
            <a:srgbClr val="FFF400"/>
          </a:solidFill>
        </p:spPr>
        <p:txBody>
          <a:bodyPr wrap="square" lIns="0" tIns="0" rIns="0" bIns="0" rtlCol="0"/>
          <a:lstStyle/>
          <a:p>
            <a:endParaRPr/>
          </a:p>
        </p:txBody>
      </p:sp>
      <p:sp>
        <p:nvSpPr>
          <p:cNvPr id="18" name="bg object 18"/>
          <p:cNvSpPr/>
          <p:nvPr/>
        </p:nvSpPr>
        <p:spPr>
          <a:xfrm>
            <a:off x="2291079" y="6350000"/>
            <a:ext cx="1158240" cy="508000"/>
          </a:xfrm>
          <a:custGeom>
            <a:avLst/>
            <a:gdLst/>
            <a:ahLst/>
            <a:cxnLst/>
            <a:rect l="l" t="t" r="r" b="b"/>
            <a:pathLst>
              <a:path w="1158239" h="508000">
                <a:moveTo>
                  <a:pt x="1158112" y="0"/>
                </a:moveTo>
                <a:lnTo>
                  <a:pt x="251332" y="0"/>
                </a:lnTo>
                <a:lnTo>
                  <a:pt x="0" y="507988"/>
                </a:lnTo>
                <a:lnTo>
                  <a:pt x="906652" y="507988"/>
                </a:lnTo>
                <a:lnTo>
                  <a:pt x="1158112" y="0"/>
                </a:lnTo>
                <a:close/>
              </a:path>
            </a:pathLst>
          </a:custGeom>
          <a:solidFill>
            <a:srgbClr val="006DAC"/>
          </a:solidFill>
        </p:spPr>
        <p:txBody>
          <a:bodyPr wrap="square" lIns="0" tIns="0" rIns="0" bIns="0" rtlCol="0"/>
          <a:lstStyle/>
          <a:p>
            <a:endParaRPr/>
          </a:p>
        </p:txBody>
      </p:sp>
      <p:sp>
        <p:nvSpPr>
          <p:cNvPr id="19" name="bg object 19"/>
          <p:cNvSpPr/>
          <p:nvPr/>
        </p:nvSpPr>
        <p:spPr>
          <a:xfrm>
            <a:off x="4046220" y="6350001"/>
            <a:ext cx="8145780" cy="508000"/>
          </a:xfrm>
          <a:custGeom>
            <a:avLst/>
            <a:gdLst/>
            <a:ahLst/>
            <a:cxnLst/>
            <a:rect l="l" t="t" r="r" b="b"/>
            <a:pathLst>
              <a:path w="8145780" h="508000">
                <a:moveTo>
                  <a:pt x="8145526" y="0"/>
                </a:moveTo>
                <a:lnTo>
                  <a:pt x="0" y="0"/>
                </a:lnTo>
                <a:lnTo>
                  <a:pt x="0" y="507987"/>
                </a:lnTo>
                <a:lnTo>
                  <a:pt x="8145526" y="507987"/>
                </a:lnTo>
                <a:lnTo>
                  <a:pt x="8145526" y="0"/>
                </a:lnTo>
                <a:close/>
              </a:path>
            </a:pathLst>
          </a:custGeom>
          <a:solidFill>
            <a:srgbClr val="FFF400"/>
          </a:solidFill>
        </p:spPr>
        <p:txBody>
          <a:bodyPr wrap="square" lIns="0" tIns="0" rIns="0" bIns="0" rtlCol="0"/>
          <a:lstStyle/>
          <a:p>
            <a:endParaRPr/>
          </a:p>
        </p:txBody>
      </p:sp>
      <p:sp>
        <p:nvSpPr>
          <p:cNvPr id="20" name="bg object 20"/>
          <p:cNvSpPr/>
          <p:nvPr/>
        </p:nvSpPr>
        <p:spPr>
          <a:xfrm>
            <a:off x="0" y="6350001"/>
            <a:ext cx="3175000" cy="508000"/>
          </a:xfrm>
          <a:custGeom>
            <a:avLst/>
            <a:gdLst/>
            <a:ahLst/>
            <a:cxnLst/>
            <a:rect l="l" t="t" r="r" b="b"/>
            <a:pathLst>
              <a:path w="3175000" h="508000">
                <a:moveTo>
                  <a:pt x="3174619" y="0"/>
                </a:moveTo>
                <a:lnTo>
                  <a:pt x="0" y="0"/>
                </a:lnTo>
                <a:lnTo>
                  <a:pt x="0" y="507987"/>
                </a:lnTo>
                <a:lnTo>
                  <a:pt x="3174619" y="507987"/>
                </a:lnTo>
                <a:lnTo>
                  <a:pt x="3174619" y="0"/>
                </a:lnTo>
                <a:close/>
              </a:path>
            </a:pathLst>
          </a:custGeom>
          <a:solidFill>
            <a:srgbClr val="006DAC"/>
          </a:solidFill>
        </p:spPr>
        <p:txBody>
          <a:bodyPr wrap="square" lIns="0" tIns="0" rIns="0" bIns="0" rtlCol="0"/>
          <a:lstStyle/>
          <a:p>
            <a:endParaRPr/>
          </a:p>
        </p:txBody>
      </p:sp>
      <p:sp>
        <p:nvSpPr>
          <p:cNvPr id="21" name="bg object 21"/>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22" name="bg object 22"/>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2000" b="0" i="0">
                <a:solidFill>
                  <a:schemeClr val="tx1"/>
                </a:solidFill>
                <a:latin typeface="Carlito"/>
                <a:cs typeface="Carlito"/>
              </a:defRPr>
            </a:lvl1p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3" name="Holder 3"/>
          <p:cNvSpPr>
            <a:spLocks noGrp="1"/>
          </p:cNvSpPr>
          <p:nvPr>
            <p:ph type="dt" sz="half" idx="6"/>
          </p:nvPr>
        </p:nvSpPr>
        <p:spPr/>
        <p:txBody>
          <a:bodyPr lIns="0" tIns="0" rIns="0" bIns="0"/>
          <a:lstStyle>
            <a:lvl1pPr>
              <a:defRPr sz="1400" b="1" i="0">
                <a:solidFill>
                  <a:schemeClr val="bg1"/>
                </a:solidFill>
                <a:latin typeface="Bookman Uralic"/>
                <a:cs typeface="Bookman Uralic"/>
              </a:defRPr>
            </a:lvl1p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211559" y="71119"/>
            <a:ext cx="830579" cy="810259"/>
          </a:xfrm>
          <a:prstGeom prst="rect">
            <a:avLst/>
          </a:prstGeom>
          <a:blipFill>
            <a:blip r:embed="rId7" cstate="print"/>
            <a:stretch>
              <a:fillRect/>
            </a:stretch>
          </a:blipFill>
        </p:spPr>
        <p:txBody>
          <a:bodyPr wrap="square" lIns="0" tIns="0" rIns="0" bIns="0" rtlCol="0"/>
          <a:lstStyle/>
          <a:p>
            <a:endParaRPr/>
          </a:p>
        </p:txBody>
      </p:sp>
      <p:sp>
        <p:nvSpPr>
          <p:cNvPr id="17" name="bg object 17"/>
          <p:cNvSpPr/>
          <p:nvPr/>
        </p:nvSpPr>
        <p:spPr>
          <a:xfrm>
            <a:off x="3721100" y="6350000"/>
            <a:ext cx="1158240" cy="508000"/>
          </a:xfrm>
          <a:custGeom>
            <a:avLst/>
            <a:gdLst/>
            <a:ahLst/>
            <a:cxnLst/>
            <a:rect l="l" t="t" r="r" b="b"/>
            <a:pathLst>
              <a:path w="1158239" h="508000">
                <a:moveTo>
                  <a:pt x="1158113" y="0"/>
                </a:moveTo>
                <a:lnTo>
                  <a:pt x="251333" y="0"/>
                </a:lnTo>
                <a:lnTo>
                  <a:pt x="0" y="507988"/>
                </a:lnTo>
                <a:lnTo>
                  <a:pt x="906652" y="507988"/>
                </a:lnTo>
                <a:lnTo>
                  <a:pt x="1158113" y="0"/>
                </a:lnTo>
                <a:close/>
              </a:path>
            </a:pathLst>
          </a:custGeom>
          <a:solidFill>
            <a:srgbClr val="FFF400"/>
          </a:solidFill>
        </p:spPr>
        <p:txBody>
          <a:bodyPr wrap="square" lIns="0" tIns="0" rIns="0" bIns="0" rtlCol="0"/>
          <a:lstStyle/>
          <a:p>
            <a:endParaRPr/>
          </a:p>
        </p:txBody>
      </p:sp>
      <p:sp>
        <p:nvSpPr>
          <p:cNvPr id="18" name="bg object 18"/>
          <p:cNvSpPr/>
          <p:nvPr/>
        </p:nvSpPr>
        <p:spPr>
          <a:xfrm>
            <a:off x="2291079" y="6350000"/>
            <a:ext cx="1158240" cy="508000"/>
          </a:xfrm>
          <a:custGeom>
            <a:avLst/>
            <a:gdLst/>
            <a:ahLst/>
            <a:cxnLst/>
            <a:rect l="l" t="t" r="r" b="b"/>
            <a:pathLst>
              <a:path w="1158239" h="508000">
                <a:moveTo>
                  <a:pt x="1158112" y="0"/>
                </a:moveTo>
                <a:lnTo>
                  <a:pt x="251332" y="0"/>
                </a:lnTo>
                <a:lnTo>
                  <a:pt x="0" y="507988"/>
                </a:lnTo>
                <a:lnTo>
                  <a:pt x="906652" y="507988"/>
                </a:lnTo>
                <a:lnTo>
                  <a:pt x="1158112" y="0"/>
                </a:lnTo>
                <a:close/>
              </a:path>
            </a:pathLst>
          </a:custGeom>
          <a:solidFill>
            <a:srgbClr val="006DAC"/>
          </a:solidFill>
        </p:spPr>
        <p:txBody>
          <a:bodyPr wrap="square" lIns="0" tIns="0" rIns="0" bIns="0" rtlCol="0"/>
          <a:lstStyle/>
          <a:p>
            <a:endParaRPr/>
          </a:p>
        </p:txBody>
      </p:sp>
      <p:sp>
        <p:nvSpPr>
          <p:cNvPr id="19" name="bg object 19"/>
          <p:cNvSpPr/>
          <p:nvPr/>
        </p:nvSpPr>
        <p:spPr>
          <a:xfrm>
            <a:off x="4046220" y="6350001"/>
            <a:ext cx="8145780" cy="508000"/>
          </a:xfrm>
          <a:custGeom>
            <a:avLst/>
            <a:gdLst/>
            <a:ahLst/>
            <a:cxnLst/>
            <a:rect l="l" t="t" r="r" b="b"/>
            <a:pathLst>
              <a:path w="8145780" h="508000">
                <a:moveTo>
                  <a:pt x="8145526" y="0"/>
                </a:moveTo>
                <a:lnTo>
                  <a:pt x="0" y="0"/>
                </a:lnTo>
                <a:lnTo>
                  <a:pt x="0" y="507987"/>
                </a:lnTo>
                <a:lnTo>
                  <a:pt x="8145526" y="507987"/>
                </a:lnTo>
                <a:lnTo>
                  <a:pt x="8145526" y="0"/>
                </a:lnTo>
                <a:close/>
              </a:path>
            </a:pathLst>
          </a:custGeom>
          <a:solidFill>
            <a:srgbClr val="FFF400"/>
          </a:solidFill>
        </p:spPr>
        <p:txBody>
          <a:bodyPr wrap="square" lIns="0" tIns="0" rIns="0" bIns="0" rtlCol="0"/>
          <a:lstStyle/>
          <a:p>
            <a:endParaRPr/>
          </a:p>
        </p:txBody>
      </p:sp>
      <p:sp>
        <p:nvSpPr>
          <p:cNvPr id="20" name="bg object 20"/>
          <p:cNvSpPr/>
          <p:nvPr/>
        </p:nvSpPr>
        <p:spPr>
          <a:xfrm>
            <a:off x="0" y="6350001"/>
            <a:ext cx="3175000" cy="508000"/>
          </a:xfrm>
          <a:custGeom>
            <a:avLst/>
            <a:gdLst/>
            <a:ahLst/>
            <a:cxnLst/>
            <a:rect l="l" t="t" r="r" b="b"/>
            <a:pathLst>
              <a:path w="3175000" h="508000">
                <a:moveTo>
                  <a:pt x="3174619" y="0"/>
                </a:moveTo>
                <a:lnTo>
                  <a:pt x="0" y="0"/>
                </a:lnTo>
                <a:lnTo>
                  <a:pt x="0" y="507987"/>
                </a:lnTo>
                <a:lnTo>
                  <a:pt x="3174619" y="507987"/>
                </a:lnTo>
                <a:lnTo>
                  <a:pt x="3174619" y="0"/>
                </a:lnTo>
                <a:close/>
              </a:path>
            </a:pathLst>
          </a:custGeom>
          <a:solidFill>
            <a:srgbClr val="006DAC"/>
          </a:solidFill>
        </p:spPr>
        <p:txBody>
          <a:bodyPr wrap="square" lIns="0" tIns="0" rIns="0" bIns="0" rtlCol="0"/>
          <a:lstStyle/>
          <a:p>
            <a:endParaRPr/>
          </a:p>
        </p:txBody>
      </p:sp>
      <p:sp>
        <p:nvSpPr>
          <p:cNvPr id="2" name="Holder 2"/>
          <p:cNvSpPr>
            <a:spLocks noGrp="1"/>
          </p:cNvSpPr>
          <p:nvPr>
            <p:ph type="title"/>
          </p:nvPr>
        </p:nvSpPr>
        <p:spPr>
          <a:xfrm>
            <a:off x="4771009" y="3240341"/>
            <a:ext cx="2649981" cy="757554"/>
          </a:xfrm>
          <a:prstGeom prst="rect">
            <a:avLst/>
          </a:prstGeom>
        </p:spPr>
        <p:txBody>
          <a:bodyPr wrap="square" lIns="0" tIns="0" rIns="0" bIns="0">
            <a:spAutoFit/>
          </a:bodyPr>
          <a:lstStyle>
            <a:lvl1pPr>
              <a:defRPr sz="4800" b="1" i="0">
                <a:solidFill>
                  <a:srgbClr val="000099"/>
                </a:solidFill>
                <a:latin typeface="Carlito"/>
                <a:cs typeface="Carlito"/>
              </a:defRPr>
            </a:lvl1pPr>
          </a:lstStyle>
          <a:p>
            <a:endParaRPr/>
          </a:p>
        </p:txBody>
      </p:sp>
      <p:sp>
        <p:nvSpPr>
          <p:cNvPr id="3" name="Holder 3"/>
          <p:cNvSpPr>
            <a:spLocks noGrp="1"/>
          </p:cNvSpPr>
          <p:nvPr>
            <p:ph type="body" idx="1"/>
          </p:nvPr>
        </p:nvSpPr>
        <p:spPr>
          <a:xfrm>
            <a:off x="298132" y="1563623"/>
            <a:ext cx="11595734" cy="4142104"/>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886325" y="6423025"/>
            <a:ext cx="5964555" cy="279400"/>
          </a:xfrm>
          <a:prstGeom prst="rect">
            <a:avLst/>
          </a:prstGeom>
        </p:spPr>
        <p:txBody>
          <a:bodyPr wrap="square" lIns="0" tIns="0" rIns="0" bIns="0">
            <a:spAutoFit/>
          </a:bodyPr>
          <a:lstStyle>
            <a:lvl1pPr>
              <a:defRPr sz="2000" b="0" i="0">
                <a:solidFill>
                  <a:schemeClr val="tx1"/>
                </a:solidFill>
                <a:latin typeface="Carlito"/>
                <a:cs typeface="Carlito"/>
              </a:defRPr>
            </a:lvl1p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5" name="Holder 5"/>
          <p:cNvSpPr>
            <a:spLocks noGrp="1"/>
          </p:cNvSpPr>
          <p:nvPr>
            <p:ph type="dt" sz="half" idx="6"/>
          </p:nvPr>
        </p:nvSpPr>
        <p:spPr>
          <a:xfrm>
            <a:off x="917257" y="6424783"/>
            <a:ext cx="1087120" cy="234315"/>
          </a:xfrm>
          <a:prstGeom prst="rect">
            <a:avLst/>
          </a:prstGeom>
        </p:spPr>
        <p:txBody>
          <a:bodyPr wrap="square" lIns="0" tIns="0" rIns="0" bIns="0">
            <a:spAutoFit/>
          </a:bodyPr>
          <a:lstStyle>
            <a:lvl1pPr>
              <a:defRPr sz="1400" b="1" i="0">
                <a:solidFill>
                  <a:schemeClr val="bg1"/>
                </a:solidFill>
                <a:latin typeface="Bookman Uralic"/>
                <a:cs typeface="Bookman Uralic"/>
              </a:defRPr>
            </a:lvl1p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917" y="230759"/>
            <a:ext cx="10577830" cy="5936240"/>
          </a:xfrm>
          <a:prstGeom prst="rect">
            <a:avLst/>
          </a:prstGeom>
        </p:spPr>
        <p:txBody>
          <a:bodyPr vert="horz" wrap="square" lIns="0" tIns="12700" rIns="0" bIns="0" rtlCol="0">
            <a:spAutoFit/>
          </a:bodyPr>
          <a:lstStyle/>
          <a:p>
            <a:pPr marL="12700">
              <a:lnSpc>
                <a:spcPct val="100000"/>
              </a:lnSpc>
              <a:spcBef>
                <a:spcPts val="100"/>
              </a:spcBef>
            </a:pPr>
            <a:r>
              <a:rPr sz="2800" b="1" spc="-10" dirty="0">
                <a:latin typeface="Bookman Uralic"/>
                <a:cs typeface="Bookman Uralic"/>
              </a:rPr>
              <a:t>Technical</a:t>
            </a:r>
            <a:r>
              <a:rPr sz="2800" b="1" spc="15" dirty="0">
                <a:latin typeface="Bookman Uralic"/>
                <a:cs typeface="Bookman Uralic"/>
              </a:rPr>
              <a:t> </a:t>
            </a:r>
            <a:r>
              <a:rPr sz="2800" b="1" spc="-10" dirty="0">
                <a:latin typeface="Bookman Uralic"/>
                <a:cs typeface="Bookman Uralic"/>
              </a:rPr>
              <a:t>Seminar</a:t>
            </a:r>
            <a:endParaRPr sz="2800" dirty="0">
              <a:latin typeface="Bookman Uralic"/>
              <a:cs typeface="Bookman Uralic"/>
            </a:endParaRPr>
          </a:p>
          <a:p>
            <a:pPr>
              <a:lnSpc>
                <a:spcPct val="100000"/>
              </a:lnSpc>
              <a:spcBef>
                <a:spcPts val="45"/>
              </a:spcBef>
            </a:pPr>
            <a:endParaRPr sz="2750" dirty="0">
              <a:latin typeface="Bookman Uralic"/>
              <a:cs typeface="Bookman Uralic"/>
            </a:endParaRPr>
          </a:p>
          <a:p>
            <a:pPr marL="1158240" algn="ctr">
              <a:lnSpc>
                <a:spcPct val="100000"/>
              </a:lnSpc>
            </a:pPr>
            <a:r>
              <a:rPr sz="2800" b="1" spc="-5" dirty="0">
                <a:solidFill>
                  <a:srgbClr val="006FC0"/>
                </a:solidFill>
                <a:latin typeface="Bookman Uralic"/>
                <a:cs typeface="Bookman Uralic"/>
              </a:rPr>
              <a:t>Department Of Computer </a:t>
            </a:r>
            <a:r>
              <a:rPr sz="2800" b="1" spc="-10" dirty="0">
                <a:solidFill>
                  <a:srgbClr val="006FC0"/>
                </a:solidFill>
                <a:latin typeface="Bookman Uralic"/>
                <a:cs typeface="Bookman Uralic"/>
              </a:rPr>
              <a:t>Science </a:t>
            </a:r>
            <a:r>
              <a:rPr sz="2800" b="1" spc="-5" dirty="0">
                <a:solidFill>
                  <a:srgbClr val="006FC0"/>
                </a:solidFill>
                <a:latin typeface="Bookman Uralic"/>
                <a:cs typeface="Bookman Uralic"/>
              </a:rPr>
              <a:t>and</a:t>
            </a:r>
            <a:r>
              <a:rPr sz="2800" b="1" spc="10" dirty="0">
                <a:solidFill>
                  <a:srgbClr val="006FC0"/>
                </a:solidFill>
                <a:latin typeface="Bookman Uralic"/>
                <a:cs typeface="Bookman Uralic"/>
              </a:rPr>
              <a:t> </a:t>
            </a:r>
            <a:r>
              <a:rPr sz="2800" b="1" spc="-10" dirty="0">
                <a:solidFill>
                  <a:srgbClr val="006FC0"/>
                </a:solidFill>
                <a:latin typeface="Bookman Uralic"/>
                <a:cs typeface="Bookman Uralic"/>
              </a:rPr>
              <a:t>Engineering</a:t>
            </a:r>
            <a:endParaRPr sz="2800" dirty="0">
              <a:latin typeface="Bookman Uralic"/>
              <a:cs typeface="Bookman Uralic"/>
            </a:endParaRPr>
          </a:p>
          <a:p>
            <a:pPr marL="1160145" algn="ctr">
              <a:lnSpc>
                <a:spcPct val="100000"/>
              </a:lnSpc>
              <a:spcBef>
                <a:spcPts val="680"/>
              </a:spcBef>
            </a:pPr>
            <a:r>
              <a:rPr sz="2800" dirty="0">
                <a:latin typeface="Bookman Uralic"/>
                <a:cs typeface="Bookman Uralic"/>
              </a:rPr>
              <a:t>Accredited </a:t>
            </a:r>
            <a:r>
              <a:rPr sz="2800" spc="-5" dirty="0">
                <a:latin typeface="Bookman Uralic"/>
                <a:cs typeface="Bookman Uralic"/>
              </a:rPr>
              <a:t>by </a:t>
            </a:r>
            <a:r>
              <a:rPr sz="2800" dirty="0">
                <a:latin typeface="Bookman Uralic"/>
                <a:cs typeface="Bookman Uralic"/>
              </a:rPr>
              <a:t>NBA</a:t>
            </a:r>
            <a:r>
              <a:rPr sz="2800" spc="-70" dirty="0">
                <a:latin typeface="Bookman Uralic"/>
                <a:cs typeface="Bookman Uralic"/>
              </a:rPr>
              <a:t> </a:t>
            </a:r>
            <a:r>
              <a:rPr sz="2800" dirty="0">
                <a:latin typeface="Bookman Uralic"/>
                <a:cs typeface="Bookman Uralic"/>
              </a:rPr>
              <a:t>2022-2025</a:t>
            </a:r>
          </a:p>
          <a:p>
            <a:pPr>
              <a:lnSpc>
                <a:spcPct val="100000"/>
              </a:lnSpc>
            </a:pPr>
            <a:endParaRPr sz="4700" dirty="0">
              <a:latin typeface="Bookman Uralic"/>
              <a:cs typeface="Bookman Uralic"/>
            </a:endParaRPr>
          </a:p>
          <a:p>
            <a:pPr marL="1159510" algn="ctr">
              <a:lnSpc>
                <a:spcPct val="100000"/>
              </a:lnSpc>
              <a:spcBef>
                <a:spcPts val="5"/>
              </a:spcBef>
            </a:pPr>
            <a:r>
              <a:rPr lang="en-IN" sz="3600" b="1" dirty="0">
                <a:solidFill>
                  <a:srgbClr val="000099"/>
                </a:solidFill>
                <a:latin typeface="Bookman Uralic"/>
                <a:cs typeface="Bookman Uralic"/>
              </a:rPr>
              <a:t>BLUE BRAIN TECHNOLOGY</a:t>
            </a:r>
            <a:endParaRPr sz="3600" dirty="0">
              <a:latin typeface="Bookman Uralic"/>
              <a:cs typeface="Bookman Uralic"/>
            </a:endParaRPr>
          </a:p>
          <a:p>
            <a:pPr>
              <a:lnSpc>
                <a:spcPct val="100000"/>
              </a:lnSpc>
              <a:spcBef>
                <a:spcPts val="35"/>
              </a:spcBef>
            </a:pPr>
            <a:endParaRPr sz="3250" dirty="0">
              <a:latin typeface="Bookman Uralic"/>
              <a:cs typeface="Bookman Uralic"/>
            </a:endParaRPr>
          </a:p>
          <a:p>
            <a:pPr marL="4258310" marR="3089275" algn="ctr">
              <a:lnSpc>
                <a:spcPct val="113500"/>
              </a:lnSpc>
            </a:pPr>
            <a:r>
              <a:rPr lang="en-IN" sz="3600" b="1" spc="-5" dirty="0">
                <a:latin typeface="Bookman Uralic"/>
                <a:cs typeface="Bookman Uralic"/>
              </a:rPr>
              <a:t>Madhu Sudhan S</a:t>
            </a:r>
            <a:r>
              <a:rPr sz="3600" b="1" spc="-5" dirty="0">
                <a:latin typeface="Bookman Uralic"/>
                <a:cs typeface="Bookman Uralic"/>
              </a:rPr>
              <a:t> 1DT19CS0</a:t>
            </a:r>
            <a:r>
              <a:rPr lang="en-IN" sz="3600" b="1" spc="-5" dirty="0">
                <a:latin typeface="Bookman Uralic"/>
                <a:cs typeface="Bookman Uralic"/>
              </a:rPr>
              <a:t>74</a:t>
            </a:r>
            <a:endParaRPr sz="3600" dirty="0">
              <a:latin typeface="Bookman Uralic"/>
              <a:cs typeface="Bookman Uralic"/>
            </a:endParaRPr>
          </a:p>
          <a:p>
            <a:pPr marL="12700">
              <a:lnSpc>
                <a:spcPct val="100000"/>
              </a:lnSpc>
              <a:spcBef>
                <a:spcPts val="2420"/>
              </a:spcBef>
            </a:pPr>
            <a:r>
              <a:rPr sz="2000" spc="-5" dirty="0">
                <a:solidFill>
                  <a:srgbClr val="C00000"/>
                </a:solidFill>
                <a:latin typeface="Times New Roman"/>
                <a:cs typeface="Times New Roman"/>
              </a:rPr>
              <a:t>Guide </a:t>
            </a:r>
            <a:r>
              <a:rPr sz="2000" dirty="0">
                <a:latin typeface="Times New Roman"/>
                <a:cs typeface="Times New Roman"/>
              </a:rPr>
              <a:t>: </a:t>
            </a:r>
            <a:r>
              <a:rPr lang="en-IN" sz="2000" spc="-45" dirty="0">
                <a:latin typeface="Times New Roman"/>
                <a:cs typeface="Times New Roman"/>
              </a:rPr>
              <a:t>MR. </a:t>
            </a:r>
            <a:r>
              <a:rPr lang="en-IN" sz="2000" spc="-45" dirty="0" err="1">
                <a:latin typeface="Times New Roman"/>
                <a:cs typeface="Times New Roman"/>
              </a:rPr>
              <a:t>Sreenidhi</a:t>
            </a:r>
            <a:r>
              <a:rPr lang="en-IN" sz="2000" spc="-45" dirty="0">
                <a:latin typeface="Times New Roman"/>
                <a:cs typeface="Times New Roman"/>
              </a:rPr>
              <a:t> B S</a:t>
            </a:r>
            <a:endParaRPr lang="en-US" sz="2000" dirty="0">
              <a:latin typeface="Times New Roman"/>
              <a:cs typeface="Times New Roman"/>
            </a:endParaRPr>
          </a:p>
          <a:p>
            <a:pPr marL="12700">
              <a:lnSpc>
                <a:spcPct val="100000"/>
              </a:lnSpc>
              <a:spcBef>
                <a:spcPts val="1200"/>
              </a:spcBef>
            </a:pPr>
            <a:r>
              <a:rPr lang="en-US" sz="2000" spc="-5" dirty="0">
                <a:solidFill>
                  <a:srgbClr val="C00000"/>
                </a:solidFill>
                <a:latin typeface="Times New Roman"/>
                <a:cs typeface="Times New Roman"/>
              </a:rPr>
              <a:t>Designation</a:t>
            </a:r>
            <a:r>
              <a:rPr lang="en-US" sz="2000" spc="-5" dirty="0">
                <a:latin typeface="Times New Roman"/>
                <a:cs typeface="Times New Roman"/>
              </a:rPr>
              <a:t>: Associate Prof, Dept </a:t>
            </a:r>
            <a:r>
              <a:rPr lang="en-US" sz="2000" dirty="0">
                <a:latin typeface="Times New Roman"/>
                <a:cs typeface="Times New Roman"/>
              </a:rPr>
              <a:t>of</a:t>
            </a:r>
            <a:r>
              <a:rPr lang="en-US" sz="2000" spc="-105" dirty="0">
                <a:latin typeface="Times New Roman"/>
                <a:cs typeface="Times New Roman"/>
              </a:rPr>
              <a:t> </a:t>
            </a:r>
            <a:r>
              <a:rPr lang="en-US" sz="2000" dirty="0">
                <a:latin typeface="Times New Roman"/>
                <a:cs typeface="Times New Roman"/>
              </a:rPr>
              <a:t>CSE</a:t>
            </a:r>
          </a:p>
        </p:txBody>
      </p:sp>
      <p:sp>
        <p:nvSpPr>
          <p:cNvPr id="3" name="object 3"/>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IN" spc="-5" dirty="0"/>
              <a:t>30</a:t>
            </a:r>
            <a:r>
              <a:rPr spc="-10" dirty="0"/>
              <a:t>-</a:t>
            </a:r>
            <a:r>
              <a:rPr spc="-5" dirty="0"/>
              <a:t>03</a:t>
            </a:r>
            <a:r>
              <a:rPr spc="-10" dirty="0"/>
              <a:t>-</a:t>
            </a:r>
            <a:r>
              <a:rPr spc="-5" dirty="0"/>
              <a:t>2023</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2131060" cy="513715"/>
          </a:xfrm>
          <a:prstGeom prst="rect">
            <a:avLst/>
          </a:prstGeom>
        </p:spPr>
        <p:txBody>
          <a:bodyPr vert="horz" wrap="square" lIns="0" tIns="12700" rIns="0" bIns="0" rtlCol="0">
            <a:spAutoFit/>
          </a:bodyPr>
          <a:lstStyle/>
          <a:p>
            <a:pPr marL="12700">
              <a:lnSpc>
                <a:spcPct val="100000"/>
              </a:lnSpc>
              <a:spcBef>
                <a:spcPts val="100"/>
              </a:spcBef>
            </a:pPr>
            <a:r>
              <a:rPr sz="3200" spc="-10" dirty="0"/>
              <a:t>Introduction</a:t>
            </a:r>
            <a:endParaRPr sz="320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523240" y="1248603"/>
            <a:ext cx="11089640" cy="4943405"/>
          </a:xfrm>
          <a:prstGeom prst="rect">
            <a:avLst/>
          </a:prstGeom>
        </p:spPr>
        <p:txBody>
          <a:bodyPr vert="horz" wrap="square" lIns="0" tIns="12700" rIns="0" bIns="0" rtlCol="0">
            <a:spAutoFit/>
          </a:bodyPr>
          <a:lstStyle/>
          <a:p>
            <a:pPr marL="342900" indent="-342900" eaLnBrk="1" hangingPunct="1">
              <a:lnSpc>
                <a:spcPct val="80000"/>
              </a:lnSpc>
              <a:buFont typeface="Arial" panose="020B0604020202020204" pitchFamily="34" charset="0"/>
              <a:buChar char="•"/>
            </a:pPr>
            <a:r>
              <a:rPr lang="en-US" sz="2000" dirty="0"/>
              <a:t>Human brain, the most valuable creation of God. The man is called intelligent because of the Brain. But we loss the knowledge of a brain when the body is destroyed after the death .  </a:t>
            </a:r>
          </a:p>
          <a:p>
            <a:pPr marL="342900" indent="-342900" eaLnBrk="1" hangingPunct="1">
              <a:lnSpc>
                <a:spcPct val="80000"/>
              </a:lnSpc>
              <a:buFont typeface="Arial" panose="020B0604020202020204" pitchFamily="34" charset="0"/>
              <a:buChar char="•"/>
            </a:pPr>
            <a:endParaRPr lang="en-US" sz="2000" dirty="0"/>
          </a:p>
          <a:p>
            <a:pPr marL="342900" indent="-342900" eaLnBrk="1" hangingPunct="1">
              <a:lnSpc>
                <a:spcPct val="80000"/>
              </a:lnSpc>
              <a:buFont typeface="Arial" panose="020B0604020202020204" pitchFamily="34" charset="0"/>
              <a:buChar char="•"/>
            </a:pPr>
            <a:r>
              <a:rPr lang="en-US" sz="2000" dirty="0"/>
              <a:t>“BLUE BRAIN”- The name of the world’s first virtual brain. That means a machine that can function as human brain.</a:t>
            </a:r>
          </a:p>
          <a:p>
            <a:pPr marL="342900" indent="-342900" eaLnBrk="1" hangingPunct="1">
              <a:lnSpc>
                <a:spcPct val="80000"/>
              </a:lnSpc>
              <a:buFont typeface="Arial" panose="020B0604020202020204" pitchFamily="34" charset="0"/>
              <a:buChar char="•"/>
            </a:pPr>
            <a:endParaRPr lang="en-US" sz="2000" dirty="0"/>
          </a:p>
          <a:p>
            <a:pPr marL="342900" indent="-342900" eaLnBrk="1" hangingPunct="1">
              <a:lnSpc>
                <a:spcPct val="80000"/>
              </a:lnSpc>
              <a:buFont typeface="Arial" panose="020B0604020202020204" pitchFamily="34" charset="0"/>
              <a:buChar char="•"/>
            </a:pPr>
            <a:r>
              <a:rPr lang="en-US" sz="2000" dirty="0"/>
              <a:t>Virtual brain is an artificial brain, which does not actually the natural brain, but can act as the brain. It can think like brain, take decisions based on the past experience, and response as the natural brain can.</a:t>
            </a:r>
          </a:p>
          <a:p>
            <a:pPr marL="342900" indent="-342900" eaLnBrk="1" hangingPunct="1">
              <a:lnSpc>
                <a:spcPct val="80000"/>
              </a:lnSpc>
              <a:buFont typeface="Arial" panose="020B0604020202020204" pitchFamily="34" charset="0"/>
              <a:buChar char="•"/>
            </a:pPr>
            <a:endParaRPr lang="en-US" sz="2000" dirty="0"/>
          </a:p>
          <a:p>
            <a:pPr marL="342900" indent="-342900" eaLnBrk="1" hangingPunct="1">
              <a:lnSpc>
                <a:spcPct val="80000"/>
              </a:lnSpc>
              <a:buFont typeface="Arial" panose="020B0604020202020204" pitchFamily="34" charset="0"/>
              <a:buChar char="•"/>
            </a:pPr>
            <a:r>
              <a:rPr lang="en-US" sz="2000" dirty="0"/>
              <a:t>Is it really possible to create a human brain?</a:t>
            </a:r>
          </a:p>
          <a:p>
            <a:pPr marL="342900" indent="-342900" eaLnBrk="1" hangingPunct="1">
              <a:lnSpc>
                <a:spcPct val="80000"/>
              </a:lnSpc>
              <a:buFont typeface="Arial" panose="020B0604020202020204" pitchFamily="34" charset="0"/>
              <a:buChar char="•"/>
            </a:pPr>
            <a:endParaRPr lang="en-US" sz="2000" dirty="0"/>
          </a:p>
          <a:p>
            <a:pPr marL="342900" indent="-342900" eaLnBrk="1" hangingPunct="1">
              <a:lnSpc>
                <a:spcPct val="80000"/>
              </a:lnSpc>
              <a:buFont typeface="Arial" panose="020B0604020202020204" pitchFamily="34" charset="0"/>
              <a:buChar char="•"/>
            </a:pPr>
            <a:r>
              <a:rPr lang="en-US" sz="2000" dirty="0"/>
              <a:t> “YES", the IBM &amp; EPFL is now developing a virtual brain known as the BLUE BRAIN. </a:t>
            </a:r>
          </a:p>
          <a:p>
            <a:pPr marL="342900" indent="-342900" eaLnBrk="1" hangingPunct="1">
              <a:lnSpc>
                <a:spcPct val="80000"/>
              </a:lnSpc>
              <a:buFont typeface="Arial" panose="020B0604020202020204" pitchFamily="34" charset="0"/>
              <a:buChar char="•"/>
            </a:pPr>
            <a:endParaRPr lang="en-US" sz="2000" dirty="0"/>
          </a:p>
          <a:p>
            <a:pPr marL="342900" indent="-342900" eaLnBrk="1" hangingPunct="1">
              <a:lnSpc>
                <a:spcPct val="80000"/>
              </a:lnSpc>
              <a:buFont typeface="Arial" panose="020B0604020202020204" pitchFamily="34" charset="0"/>
              <a:buChar char="•"/>
            </a:pPr>
            <a:r>
              <a:rPr lang="en-US" sz="2000" dirty="0"/>
              <a:t>Technology is growing faster than everything. If possible, IBM’S “blue brain”, an artificial brain that can think, respond, take decision, and keep anything in memory, would be the first virtual brain of the world. </a:t>
            </a:r>
          </a:p>
          <a:p>
            <a:pPr eaLnBrk="1" hangingPunct="1">
              <a:lnSpc>
                <a:spcPct val="80000"/>
              </a:lnSpc>
            </a:pPr>
            <a:endParaRPr lang="en-US" sz="2000" dirty="0"/>
          </a:p>
          <a:p>
            <a:pPr marL="342900" indent="-342900" eaLnBrk="1" hangingPunct="1">
              <a:lnSpc>
                <a:spcPct val="80000"/>
              </a:lnSpc>
              <a:buFont typeface="Arial" panose="020B0604020202020204" pitchFamily="34" charset="0"/>
              <a:buChar char="•"/>
            </a:pPr>
            <a:r>
              <a:rPr lang="en-US" sz="2000" dirty="0"/>
              <a:t> the goal is to reverse engineer the brain into a computer</a:t>
            </a:r>
          </a:p>
          <a:p>
            <a:pPr marL="342900" indent="-342900" eaLnBrk="1" hangingPunct="1">
              <a:lnSpc>
                <a:spcPct val="80000"/>
              </a:lnSpc>
              <a:buFont typeface="Arial" panose="020B0604020202020204" pitchFamily="34" charset="0"/>
              <a:buChar char="•"/>
            </a:pPr>
            <a:endParaRPr lang="en-US" sz="2000" dirty="0"/>
          </a:p>
          <a:p>
            <a:pPr marL="342900" indent="-342900" eaLnBrk="1" hangingPunct="1">
              <a:lnSpc>
                <a:spcPct val="80000"/>
              </a:lnSpc>
              <a:buFont typeface="Arial" panose="020B0604020202020204" pitchFamily="34" charset="0"/>
              <a:buChar char="•"/>
            </a:pPr>
            <a:endParaRPr lang="en-US" sz="2000" dirty="0"/>
          </a:p>
        </p:txBody>
      </p:sp>
      <p:sp>
        <p:nvSpPr>
          <p:cNvPr id="7" name="object 7"/>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IN" spc="-5" dirty="0"/>
              <a:t>30</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6256020" cy="505267"/>
          </a:xfrm>
          <a:prstGeom prst="rect">
            <a:avLst/>
          </a:prstGeom>
        </p:spPr>
        <p:txBody>
          <a:bodyPr vert="horz" wrap="square" lIns="0" tIns="12700" rIns="0" bIns="0" rtlCol="0">
            <a:spAutoFit/>
          </a:bodyPr>
          <a:lstStyle/>
          <a:p>
            <a:pPr marL="12700">
              <a:lnSpc>
                <a:spcPct val="100000"/>
              </a:lnSpc>
              <a:spcBef>
                <a:spcPts val="100"/>
              </a:spcBef>
            </a:pPr>
            <a:r>
              <a:rPr lang="en-IN" sz="3200" dirty="0"/>
              <a:t>What Is Blue Brain?</a:t>
            </a:r>
            <a:endParaRPr lang="en-US"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490220" y="1219403"/>
            <a:ext cx="11211560" cy="4706417"/>
          </a:xfrm>
          <a:prstGeom prst="rect">
            <a:avLst/>
          </a:prstGeom>
        </p:spPr>
        <p:txBody>
          <a:bodyPr vert="horz" wrap="square" lIns="0" tIns="12700" rIns="0" bIns="0" rtlCol="0">
            <a:spAutoFit/>
          </a:bodyPr>
          <a:lstStyle/>
          <a:p>
            <a:pPr marL="154940" indent="-142240">
              <a:lnSpc>
                <a:spcPct val="100000"/>
              </a:lnSpc>
              <a:spcBef>
                <a:spcPts val="100"/>
              </a:spcBef>
              <a:buClr>
                <a:srgbClr val="4471C4"/>
              </a:buClr>
              <a:buFont typeface="Arial"/>
              <a:buChar char="•"/>
              <a:tabLst>
                <a:tab pos="154940" algn="l"/>
              </a:tabLst>
            </a:pPr>
            <a:r>
              <a:rPr lang="en-US" sz="2000" dirty="0"/>
              <a:t>The Blue Brain Project is assumed to be the first one to explore about a true “Artificial Intelligence” via the process of reverse engineering and also the effort to reverse engineering a human brain.</a:t>
            </a:r>
          </a:p>
          <a:p>
            <a:pPr marL="154940" indent="-142240">
              <a:lnSpc>
                <a:spcPct val="100000"/>
              </a:lnSpc>
              <a:spcBef>
                <a:spcPts val="100"/>
              </a:spcBef>
              <a:buClr>
                <a:srgbClr val="4471C4"/>
              </a:buClr>
              <a:buFont typeface="Arial"/>
              <a:buChar char="•"/>
              <a:tabLst>
                <a:tab pos="154940" algn="l"/>
              </a:tabLst>
            </a:pPr>
            <a:endParaRPr lang="en-US" sz="2000" dirty="0">
              <a:latin typeface="Times New Roman"/>
              <a:cs typeface="Times New Roman"/>
            </a:endParaRPr>
          </a:p>
          <a:p>
            <a:pPr marL="154940" indent="-142240">
              <a:lnSpc>
                <a:spcPct val="100000"/>
              </a:lnSpc>
              <a:spcBef>
                <a:spcPts val="100"/>
              </a:spcBef>
              <a:buClr>
                <a:srgbClr val="4471C4"/>
              </a:buClr>
              <a:buFont typeface="Arial"/>
              <a:buChar char="•"/>
              <a:tabLst>
                <a:tab pos="154940" algn="l"/>
              </a:tabLst>
            </a:pPr>
            <a:r>
              <a:rPr lang="en-US" sz="2000" dirty="0"/>
              <a:t>The vision behind Virtual Brain will help shed some light on some aspects of human recognition. The Blue Brain Project aims to build a full computer model of a functioning brain to simulate drug treatments or any other brain related problems. </a:t>
            </a:r>
            <a:endParaRPr lang="en-US" sz="2000" dirty="0">
              <a:latin typeface="Times New Roman"/>
              <a:cs typeface="Times New Roman"/>
            </a:endParaRPr>
          </a:p>
          <a:p>
            <a:pPr marL="154940" indent="-142240">
              <a:lnSpc>
                <a:spcPct val="100000"/>
              </a:lnSpc>
              <a:spcBef>
                <a:spcPts val="100"/>
              </a:spcBef>
              <a:buClr>
                <a:srgbClr val="4471C4"/>
              </a:buClr>
              <a:buFont typeface="Arial"/>
              <a:buChar char="•"/>
              <a:tabLst>
                <a:tab pos="154940" algn="l"/>
              </a:tabLst>
            </a:pPr>
            <a:endParaRPr lang="en-US" sz="2000" dirty="0">
              <a:latin typeface="Times New Roman"/>
              <a:cs typeface="Times New Roman"/>
            </a:endParaRPr>
          </a:p>
          <a:p>
            <a:pPr marL="154940" indent="-142240">
              <a:lnSpc>
                <a:spcPct val="100000"/>
              </a:lnSpc>
              <a:spcBef>
                <a:spcPts val="100"/>
              </a:spcBef>
              <a:buClr>
                <a:srgbClr val="4471C4"/>
              </a:buClr>
              <a:buFont typeface="Arial"/>
              <a:buChar char="•"/>
              <a:tabLst>
                <a:tab pos="154940" algn="l"/>
              </a:tabLst>
            </a:pPr>
            <a:r>
              <a:rPr lang="en-US" sz="2000" dirty="0"/>
              <a:t>Blue gene supercomputer constructed by IBM was a machine first used by Blue Brain Project and then a term Blue Brain was introduced. It can be implemented by using supercomputer, the fastest type but quite expensive and are assist for special tasks which require abundant amount of mathematical computations, like weather forecasting employs a supercomputer.</a:t>
            </a:r>
            <a:endParaRPr lang="en-US" sz="2000" dirty="0">
              <a:latin typeface="Times New Roman"/>
              <a:cs typeface="Times New Roman"/>
            </a:endParaRPr>
          </a:p>
          <a:p>
            <a:pPr marL="154940" indent="-142240">
              <a:lnSpc>
                <a:spcPct val="100000"/>
              </a:lnSpc>
              <a:spcBef>
                <a:spcPts val="100"/>
              </a:spcBef>
              <a:buClr>
                <a:srgbClr val="4471C4"/>
              </a:buClr>
              <a:buFont typeface="Arial"/>
              <a:buChar char="•"/>
              <a:tabLst>
                <a:tab pos="154940" algn="l"/>
              </a:tabLst>
            </a:pPr>
            <a:endParaRPr lang="en-US" sz="2000" dirty="0">
              <a:latin typeface="Times New Roman"/>
              <a:cs typeface="Times New Roman"/>
            </a:endParaRPr>
          </a:p>
          <a:p>
            <a:pPr marL="154940" indent="-142240">
              <a:lnSpc>
                <a:spcPct val="100000"/>
              </a:lnSpc>
              <a:spcBef>
                <a:spcPts val="100"/>
              </a:spcBef>
              <a:buClr>
                <a:srgbClr val="4471C4"/>
              </a:buClr>
              <a:buFont typeface="Arial"/>
              <a:buChar char="•"/>
              <a:tabLst>
                <a:tab pos="154940" algn="l"/>
              </a:tabLst>
            </a:pPr>
            <a:r>
              <a:rPr lang="en-US" sz="2000" dirty="0"/>
              <a:t>The back pane of Blue Brain is Artificial Intelligence, a technology which builds intelligent machines and imparts intelligent agents. Knowledge, learning, reasoning, planning, communication and perception are the main goals of its research.</a:t>
            </a:r>
            <a:endParaRPr sz="2000" dirty="0">
              <a:latin typeface="Times New Roman"/>
              <a:cs typeface="Times New Roman"/>
            </a:endParaRPr>
          </a:p>
        </p:txBody>
      </p:sp>
      <p:sp>
        <p:nvSpPr>
          <p:cNvPr id="8" name="object 8"/>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IN" spc="-5" dirty="0"/>
              <a:t>30</a:t>
            </a:r>
            <a:r>
              <a:rPr spc="-10" dirty="0"/>
              <a:t>-</a:t>
            </a:r>
            <a:r>
              <a:rPr spc="-5" dirty="0"/>
              <a:t>03</a:t>
            </a:r>
            <a:r>
              <a:rPr spc="-10" dirty="0"/>
              <a:t>-</a:t>
            </a:r>
            <a:r>
              <a:rPr spc="-5" dirty="0"/>
              <a:t>2023</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4792980" cy="505267"/>
          </a:xfrm>
          <a:prstGeom prst="rect">
            <a:avLst/>
          </a:prstGeom>
        </p:spPr>
        <p:txBody>
          <a:bodyPr vert="horz" wrap="square" lIns="0" tIns="12700" rIns="0" bIns="0" rtlCol="0">
            <a:spAutoFit/>
          </a:bodyPr>
          <a:lstStyle/>
          <a:p>
            <a:pPr marL="12700">
              <a:lnSpc>
                <a:spcPct val="100000"/>
              </a:lnSpc>
              <a:spcBef>
                <a:spcPts val="100"/>
              </a:spcBef>
            </a:pPr>
            <a:r>
              <a:rPr lang="en-IN" sz="3200" dirty="0"/>
              <a:t>How Natural Brain Works?</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7" name="object 7"/>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IN" spc="-5" dirty="0"/>
              <a:t>30</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pic>
        <p:nvPicPr>
          <p:cNvPr id="1026" name="Picture 2" descr="Blue Brain - Intuitive Brain Processing by Arthur Carmazzi">
            <a:extLst>
              <a:ext uri="{FF2B5EF4-FFF2-40B4-BE49-F238E27FC236}">
                <a16:creationId xmlns:a16="http://schemas.microsoft.com/office/drawing/2014/main" id="{D8F056EE-3B20-1176-1EF8-40617BDBD4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1191390"/>
            <a:ext cx="8991600" cy="49529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4792980" cy="505267"/>
          </a:xfrm>
          <a:prstGeom prst="rect">
            <a:avLst/>
          </a:prstGeom>
        </p:spPr>
        <p:txBody>
          <a:bodyPr vert="horz" wrap="square" lIns="0" tIns="12700" rIns="0" bIns="0" rtlCol="0">
            <a:spAutoFit/>
          </a:bodyPr>
          <a:lstStyle/>
          <a:p>
            <a:pPr marL="12700">
              <a:lnSpc>
                <a:spcPct val="100000"/>
              </a:lnSpc>
              <a:spcBef>
                <a:spcPts val="100"/>
              </a:spcBef>
            </a:pPr>
            <a:r>
              <a:rPr lang="en-IN" sz="3200" dirty="0"/>
              <a:t>How Natural Brain Works?</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457199" y="1404965"/>
            <a:ext cx="11353801" cy="4090863"/>
          </a:xfrm>
          <a:prstGeom prst="rect">
            <a:avLst/>
          </a:prstGeom>
        </p:spPr>
        <p:txBody>
          <a:bodyPr vert="horz" wrap="square" lIns="0" tIns="12700" rIns="0" bIns="0" rtlCol="0">
            <a:spAutoFit/>
          </a:bodyPr>
          <a:lstStyle/>
          <a:p>
            <a:pPr marL="299085" marR="5715" indent="-287020" algn="just">
              <a:lnSpc>
                <a:spcPct val="100000"/>
              </a:lnSpc>
              <a:spcBef>
                <a:spcPts val="100"/>
              </a:spcBef>
              <a:buFont typeface="Arial"/>
              <a:buChar char="•"/>
              <a:tabLst>
                <a:tab pos="299720" algn="l"/>
              </a:tabLst>
            </a:pPr>
            <a:r>
              <a:rPr lang="en-US" sz="2000" dirty="0"/>
              <a:t>The brain essentially serves as the body’s information processing center. It receives signals from sensory neurons (nerve cell bodies and their axons and dendrites) in the central and peripheral nervous systems, and in response it generates and sends new signals that instruct the corresponding parts of the body to move or react in some way. It also integrates signals received from the body with signals from adjacent areas of the brain, giving rise to perception and consciousness. The brain weighs about 1,500 grams (3 pounds) and constitutes about 2 percent of total body weight. It consists of three major divisions; </a:t>
            </a:r>
          </a:p>
          <a:p>
            <a:pPr marL="299085" marR="5715" indent="-287020" algn="just">
              <a:lnSpc>
                <a:spcPct val="100000"/>
              </a:lnSpc>
              <a:spcBef>
                <a:spcPts val="100"/>
              </a:spcBef>
              <a:buFont typeface="Arial"/>
              <a:buChar char="•"/>
              <a:tabLst>
                <a:tab pos="299720" algn="l"/>
              </a:tabLst>
            </a:pPr>
            <a:endParaRPr lang="en-US" sz="2000" dirty="0"/>
          </a:p>
          <a:p>
            <a:pPr marL="299085" marR="5715" indent="-287020" algn="just">
              <a:lnSpc>
                <a:spcPct val="100000"/>
              </a:lnSpc>
              <a:spcBef>
                <a:spcPts val="100"/>
              </a:spcBef>
              <a:buFont typeface="Arial"/>
              <a:buChar char="•"/>
              <a:tabLst>
                <a:tab pos="299720" algn="l"/>
              </a:tabLst>
            </a:pPr>
            <a:r>
              <a:rPr lang="en-US" sz="2000" dirty="0"/>
              <a:t> The massive paired hemispheres of the cerebrum </a:t>
            </a:r>
          </a:p>
          <a:p>
            <a:pPr marL="299085" marR="5715" indent="-287020" algn="just">
              <a:lnSpc>
                <a:spcPct val="100000"/>
              </a:lnSpc>
              <a:spcBef>
                <a:spcPts val="100"/>
              </a:spcBef>
              <a:buFont typeface="Arial"/>
              <a:buChar char="•"/>
              <a:tabLst>
                <a:tab pos="299720" algn="l"/>
              </a:tabLst>
            </a:pPr>
            <a:endParaRPr lang="en-US" sz="2000" dirty="0"/>
          </a:p>
          <a:p>
            <a:pPr marL="299085" marR="5715" indent="-287020" algn="just">
              <a:lnSpc>
                <a:spcPct val="100000"/>
              </a:lnSpc>
              <a:spcBef>
                <a:spcPts val="100"/>
              </a:spcBef>
              <a:buFont typeface="Arial"/>
              <a:buChar char="•"/>
              <a:tabLst>
                <a:tab pos="299720" algn="l"/>
              </a:tabLst>
            </a:pPr>
            <a:r>
              <a:rPr lang="en-US" sz="2000" dirty="0"/>
              <a:t> The brainstem, consisting of the thalamus, hypothalamus, epithalamiums, sub thalamus, midbrain, pons, and medulla oblongata</a:t>
            </a:r>
          </a:p>
          <a:p>
            <a:pPr marL="12065" marR="5715" algn="just">
              <a:lnSpc>
                <a:spcPct val="100000"/>
              </a:lnSpc>
              <a:spcBef>
                <a:spcPts val="100"/>
              </a:spcBef>
              <a:tabLst>
                <a:tab pos="299720" algn="l"/>
              </a:tabLst>
            </a:pPr>
            <a:endParaRPr lang="en-US" sz="2000" dirty="0"/>
          </a:p>
          <a:p>
            <a:pPr marL="299085" marR="5715" indent="-287020" algn="just">
              <a:lnSpc>
                <a:spcPct val="100000"/>
              </a:lnSpc>
              <a:spcBef>
                <a:spcPts val="100"/>
              </a:spcBef>
              <a:buFont typeface="Arial"/>
              <a:buChar char="•"/>
              <a:tabLst>
                <a:tab pos="299720" algn="l"/>
              </a:tabLst>
            </a:pPr>
            <a:r>
              <a:rPr lang="en-US" sz="2000" dirty="0"/>
              <a:t> The cerebellum.</a:t>
            </a:r>
            <a:endParaRPr sz="2000" dirty="0">
              <a:latin typeface="Times New Roman"/>
              <a:cs typeface="Times New Roman"/>
            </a:endParaRPr>
          </a:p>
        </p:txBody>
      </p:sp>
      <p:sp>
        <p:nvSpPr>
          <p:cNvPr id="8" name="object 8"/>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IN" spc="-5" dirty="0"/>
              <a:t>30</a:t>
            </a:r>
            <a:r>
              <a:rPr spc="-10" dirty="0"/>
              <a:t>-</a:t>
            </a:r>
            <a:r>
              <a:rPr spc="-5" dirty="0"/>
              <a:t>03</a:t>
            </a:r>
            <a:r>
              <a:rPr spc="-10" dirty="0"/>
              <a:t>-</a:t>
            </a:r>
            <a:r>
              <a:rPr spc="-5" dirty="0"/>
              <a:t>2023</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6079490" cy="513715"/>
          </a:xfrm>
          <a:prstGeom prst="rect">
            <a:avLst/>
          </a:prstGeom>
        </p:spPr>
        <p:txBody>
          <a:bodyPr vert="horz" wrap="square" lIns="0" tIns="12700" rIns="0" bIns="0" rtlCol="0">
            <a:spAutoFit/>
          </a:bodyPr>
          <a:lstStyle/>
          <a:p>
            <a:pPr marL="12700">
              <a:lnSpc>
                <a:spcPct val="100000"/>
              </a:lnSpc>
              <a:spcBef>
                <a:spcPts val="100"/>
              </a:spcBef>
            </a:pPr>
            <a:r>
              <a:rPr lang="en-IN" sz="3200" spc="-15" dirty="0"/>
              <a:t>SIMULATION</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7" name="object 7"/>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US" spc="-5" dirty="0"/>
              <a:t>30</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pic>
        <p:nvPicPr>
          <p:cNvPr id="10" name="Picture 9">
            <a:extLst>
              <a:ext uri="{FF2B5EF4-FFF2-40B4-BE49-F238E27FC236}">
                <a16:creationId xmlns:a16="http://schemas.microsoft.com/office/drawing/2014/main" id="{C71B54EF-794A-FBB7-328D-226F42AEC5ED}"/>
              </a:ext>
            </a:extLst>
          </p:cNvPr>
          <p:cNvPicPr>
            <a:picLocks noChangeAspect="1"/>
          </p:cNvPicPr>
          <p:nvPr/>
        </p:nvPicPr>
        <p:blipFill>
          <a:blip r:embed="rId2"/>
          <a:stretch>
            <a:fillRect/>
          </a:stretch>
        </p:blipFill>
        <p:spPr>
          <a:xfrm>
            <a:off x="2743200" y="1927192"/>
            <a:ext cx="6934199" cy="30036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5620" y="351416"/>
            <a:ext cx="4886960" cy="474489"/>
          </a:xfrm>
          <a:prstGeom prst="rect">
            <a:avLst/>
          </a:prstGeom>
        </p:spPr>
        <p:txBody>
          <a:bodyPr vert="horz" wrap="square" lIns="0" tIns="12700" rIns="0" bIns="0" rtlCol="0">
            <a:spAutoFit/>
          </a:bodyPr>
          <a:lstStyle/>
          <a:p>
            <a:pPr marL="12700">
              <a:lnSpc>
                <a:spcPct val="100000"/>
              </a:lnSpc>
              <a:spcBef>
                <a:spcPts val="100"/>
              </a:spcBef>
            </a:pPr>
            <a:r>
              <a:rPr lang="en-IN" sz="3000" dirty="0"/>
              <a:t>UPLOADING HUMAN BRAIN</a:t>
            </a:r>
            <a:endParaRPr sz="30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523240" y="1264602"/>
            <a:ext cx="7435215" cy="4321696"/>
          </a:xfrm>
          <a:prstGeom prst="rect">
            <a:avLst/>
          </a:prstGeom>
        </p:spPr>
        <p:txBody>
          <a:bodyPr vert="horz" wrap="square" lIns="0" tIns="12700" rIns="0" bIns="0" rtlCol="0">
            <a:spAutoFit/>
          </a:bodyPr>
          <a:lstStyle/>
          <a:p>
            <a:pPr marL="355600" indent="-342900">
              <a:lnSpc>
                <a:spcPct val="100000"/>
              </a:lnSpc>
              <a:spcBef>
                <a:spcPts val="100"/>
              </a:spcBef>
              <a:buFont typeface="Arial"/>
              <a:buChar char="•"/>
              <a:tabLst>
                <a:tab pos="354965" algn="l"/>
                <a:tab pos="355600" algn="l"/>
              </a:tabLst>
            </a:pPr>
            <a:r>
              <a:rPr lang="en-US" dirty="0"/>
              <a:t>The uploading is possible by the use of small robots known as the nanobots.</a:t>
            </a:r>
          </a:p>
          <a:p>
            <a:pPr marL="12700">
              <a:lnSpc>
                <a:spcPct val="100000"/>
              </a:lnSpc>
              <a:spcBef>
                <a:spcPts val="100"/>
              </a:spcBef>
              <a:tabLst>
                <a:tab pos="354965" algn="l"/>
                <a:tab pos="355600" algn="l"/>
              </a:tabLst>
            </a:pPr>
            <a:r>
              <a:rPr lang="en-US" dirty="0"/>
              <a:t>  </a:t>
            </a:r>
          </a:p>
          <a:p>
            <a:pPr marL="355600" indent="-342900">
              <a:lnSpc>
                <a:spcPct val="100000"/>
              </a:lnSpc>
              <a:spcBef>
                <a:spcPts val="100"/>
              </a:spcBef>
              <a:buFont typeface="Arial"/>
              <a:buChar char="•"/>
              <a:tabLst>
                <a:tab pos="354965" algn="l"/>
                <a:tab pos="355600" algn="l"/>
              </a:tabLst>
            </a:pPr>
            <a:r>
              <a:rPr lang="en-US" dirty="0"/>
              <a:t>These robots are small enough to travel throughout our circulatory system.</a:t>
            </a:r>
          </a:p>
          <a:p>
            <a:pPr marL="12700">
              <a:lnSpc>
                <a:spcPct val="100000"/>
              </a:lnSpc>
              <a:spcBef>
                <a:spcPts val="100"/>
              </a:spcBef>
              <a:tabLst>
                <a:tab pos="354965" algn="l"/>
                <a:tab pos="355600" algn="l"/>
              </a:tabLst>
            </a:pPr>
            <a:r>
              <a:rPr lang="en-US" dirty="0"/>
              <a:t> </a:t>
            </a:r>
          </a:p>
          <a:p>
            <a:pPr marL="355600" indent="-342900">
              <a:lnSpc>
                <a:spcPct val="100000"/>
              </a:lnSpc>
              <a:spcBef>
                <a:spcPts val="100"/>
              </a:spcBef>
              <a:buFont typeface="Arial"/>
              <a:buChar char="•"/>
              <a:tabLst>
                <a:tab pos="354965" algn="l"/>
                <a:tab pos="355600" algn="l"/>
              </a:tabLst>
            </a:pPr>
            <a:r>
              <a:rPr lang="en-US" dirty="0"/>
              <a:t>will monitor activity of brain by traveling into the spine and brain </a:t>
            </a:r>
          </a:p>
          <a:p>
            <a:pPr marL="12700">
              <a:lnSpc>
                <a:spcPct val="100000"/>
              </a:lnSpc>
              <a:spcBef>
                <a:spcPts val="100"/>
              </a:spcBef>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They will provide an interface with computer </a:t>
            </a:r>
          </a:p>
          <a:p>
            <a:pPr marL="12700">
              <a:lnSpc>
                <a:spcPct val="100000"/>
              </a:lnSpc>
              <a:spcBef>
                <a:spcPts val="100"/>
              </a:spcBef>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NANOBOTS could also carefully scan the structure of our brain, providing a complete readout of the connection. </a:t>
            </a:r>
          </a:p>
          <a:p>
            <a:pPr marL="355600" indent="-342900">
              <a:lnSpc>
                <a:spcPct val="100000"/>
              </a:lnSpc>
              <a:spcBef>
                <a:spcPts val="100"/>
              </a:spcBef>
              <a:buFont typeface="Arial"/>
              <a:buChar char="•"/>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This information, when entered into a computer, could then continue to function as us</a:t>
            </a:r>
          </a:p>
          <a:p>
            <a:pPr marL="12700">
              <a:lnSpc>
                <a:spcPct val="100000"/>
              </a:lnSpc>
              <a:spcBef>
                <a:spcPts val="100"/>
              </a:spcBef>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 Thus the data stored in the entire brain will be uploaded into the computer. </a:t>
            </a:r>
            <a:endParaRPr sz="1800" dirty="0">
              <a:latin typeface="Times New Roman"/>
              <a:cs typeface="Times New Roman"/>
            </a:endParaRPr>
          </a:p>
        </p:txBody>
      </p:sp>
      <p:sp>
        <p:nvSpPr>
          <p:cNvPr id="8" name="object 8"/>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US" spc="-5" dirty="0"/>
              <a:t>30</a:t>
            </a:r>
            <a:r>
              <a:rPr spc="-10" dirty="0"/>
              <a:t>-</a:t>
            </a:r>
            <a:r>
              <a:rPr spc="-5" dirty="0"/>
              <a:t>03</a:t>
            </a:r>
            <a:r>
              <a:rPr spc="-10" dirty="0"/>
              <a:t>-</a:t>
            </a:r>
            <a:r>
              <a:rPr spc="-5" dirty="0"/>
              <a:t>2023</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pic>
        <p:nvPicPr>
          <p:cNvPr id="11" name="Picture 10">
            <a:extLst>
              <a:ext uri="{FF2B5EF4-FFF2-40B4-BE49-F238E27FC236}">
                <a16:creationId xmlns:a16="http://schemas.microsoft.com/office/drawing/2014/main" id="{FC6BC404-7E24-18AF-BC52-B89A78B86FED}"/>
              </a:ext>
            </a:extLst>
          </p:cNvPr>
          <p:cNvPicPr>
            <a:picLocks noChangeAspect="1"/>
          </p:cNvPicPr>
          <p:nvPr/>
        </p:nvPicPr>
        <p:blipFill>
          <a:blip r:embed="rId2"/>
          <a:stretch>
            <a:fillRect/>
          </a:stretch>
        </p:blipFill>
        <p:spPr>
          <a:xfrm>
            <a:off x="8382000" y="1107035"/>
            <a:ext cx="3114938" cy="2206415"/>
          </a:xfrm>
          <a:prstGeom prst="rect">
            <a:avLst/>
          </a:prstGeom>
        </p:spPr>
      </p:pic>
      <p:pic>
        <p:nvPicPr>
          <p:cNvPr id="13" name="Picture 12">
            <a:extLst>
              <a:ext uri="{FF2B5EF4-FFF2-40B4-BE49-F238E27FC236}">
                <a16:creationId xmlns:a16="http://schemas.microsoft.com/office/drawing/2014/main" id="{86E57DD5-3267-3CF2-E1D4-753D717B6A45}"/>
              </a:ext>
            </a:extLst>
          </p:cNvPr>
          <p:cNvPicPr>
            <a:picLocks noChangeAspect="1"/>
          </p:cNvPicPr>
          <p:nvPr/>
        </p:nvPicPr>
        <p:blipFill>
          <a:blip r:embed="rId3"/>
          <a:stretch>
            <a:fillRect/>
          </a:stretch>
        </p:blipFill>
        <p:spPr>
          <a:xfrm>
            <a:off x="8991600" y="4053181"/>
            <a:ext cx="3114938" cy="2071328"/>
          </a:xfrm>
          <a:prstGeom prst="rect">
            <a:avLst/>
          </a:prstGeom>
        </p:spPr>
      </p:pic>
      <p:sp>
        <p:nvSpPr>
          <p:cNvPr id="14" name="TextBox 13">
            <a:extLst>
              <a:ext uri="{FF2B5EF4-FFF2-40B4-BE49-F238E27FC236}">
                <a16:creationId xmlns:a16="http://schemas.microsoft.com/office/drawing/2014/main" id="{B5BBDD1C-AA8F-986E-6E41-B25ECD67F4E1}"/>
              </a:ext>
            </a:extLst>
          </p:cNvPr>
          <p:cNvSpPr txBox="1"/>
          <p:nvPr/>
        </p:nvSpPr>
        <p:spPr>
          <a:xfrm>
            <a:off x="9748969" y="3498649"/>
            <a:ext cx="1600200" cy="369332"/>
          </a:xfrm>
          <a:prstGeom prst="rect">
            <a:avLst/>
          </a:prstGeom>
          <a:noFill/>
        </p:spPr>
        <p:txBody>
          <a:bodyPr wrap="square" rtlCol="0">
            <a:spAutoFit/>
          </a:bodyPr>
          <a:lstStyle/>
          <a:p>
            <a:r>
              <a:rPr lang="en-IN" b="1" dirty="0"/>
              <a:t>NANOBOTS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347492"/>
            <a:ext cx="3591560" cy="505267"/>
          </a:xfrm>
          <a:prstGeom prst="rect">
            <a:avLst/>
          </a:prstGeom>
        </p:spPr>
        <p:txBody>
          <a:bodyPr vert="horz" wrap="square" lIns="0" tIns="12700" rIns="0" bIns="0" rtlCol="0">
            <a:spAutoFit/>
          </a:bodyPr>
          <a:lstStyle/>
          <a:p>
            <a:pPr marL="12700">
              <a:lnSpc>
                <a:spcPct val="100000"/>
              </a:lnSpc>
              <a:spcBef>
                <a:spcPts val="100"/>
              </a:spcBef>
            </a:pPr>
            <a:r>
              <a:rPr lang="en-IN" sz="3200" dirty="0"/>
              <a:t>BLUE BRAIN POWER</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523240" y="1828800"/>
            <a:ext cx="7020560" cy="2280111"/>
          </a:xfrm>
          <a:prstGeom prst="rect">
            <a:avLst/>
          </a:prstGeom>
        </p:spPr>
        <p:txBody>
          <a:bodyPr vert="horz" wrap="square" lIns="0" tIns="12700" rIns="0" bIns="0" rtlCol="0">
            <a:spAutoFit/>
          </a:bodyPr>
          <a:lstStyle/>
          <a:p>
            <a:pPr marL="355600" indent="-342900">
              <a:lnSpc>
                <a:spcPct val="100000"/>
              </a:lnSpc>
              <a:spcBef>
                <a:spcPts val="100"/>
              </a:spcBef>
              <a:buFont typeface="Arial"/>
              <a:buChar char="•"/>
              <a:tabLst>
                <a:tab pos="354965" algn="l"/>
                <a:tab pos="355600" algn="l"/>
              </a:tabLst>
            </a:pPr>
            <a:r>
              <a:rPr lang="en-US" dirty="0"/>
              <a:t>Blue brain will reveal many existing aspects of the brain circuits ,memory capacity , and how memories are lost. </a:t>
            </a:r>
          </a:p>
          <a:p>
            <a:pPr marL="355600" indent="-342900">
              <a:lnSpc>
                <a:spcPct val="100000"/>
              </a:lnSpc>
              <a:spcBef>
                <a:spcPts val="100"/>
              </a:spcBef>
              <a:buFont typeface="Arial"/>
              <a:buChar char="•"/>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The modelling is also able to work out best way to compensate and repair error circuits . </a:t>
            </a:r>
          </a:p>
          <a:p>
            <a:pPr marL="355600" indent="-342900">
              <a:lnSpc>
                <a:spcPct val="100000"/>
              </a:lnSpc>
              <a:spcBef>
                <a:spcPts val="100"/>
              </a:spcBef>
              <a:buFont typeface="Arial"/>
              <a:buChar char="•"/>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The blue brain model can be used to detect and test treatment strategies for neurological diseases. </a:t>
            </a:r>
            <a:endParaRPr sz="1800" dirty="0">
              <a:latin typeface="Times New Roman"/>
              <a:cs typeface="Times New Roman"/>
            </a:endParaRPr>
          </a:p>
        </p:txBody>
      </p:sp>
      <p:sp>
        <p:nvSpPr>
          <p:cNvPr id="7" name="object 7"/>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US" spc="-5" dirty="0"/>
              <a:t>30</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pic>
        <p:nvPicPr>
          <p:cNvPr id="2050" name="Picture 2" descr="Modafinil Stack Guide: How to 10x Your Focus (Update 2021)">
            <a:extLst>
              <a:ext uri="{FF2B5EF4-FFF2-40B4-BE49-F238E27FC236}">
                <a16:creationId xmlns:a16="http://schemas.microsoft.com/office/drawing/2014/main" id="{3D875BCE-3866-E0DA-67D6-A92427F91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3386474"/>
            <a:ext cx="3643313" cy="23299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12987"/>
            <a:ext cx="3896360" cy="505267"/>
          </a:xfrm>
          <a:prstGeom prst="rect">
            <a:avLst/>
          </a:prstGeom>
        </p:spPr>
        <p:txBody>
          <a:bodyPr vert="horz" wrap="square" lIns="0" tIns="12700" rIns="0" bIns="0" rtlCol="0">
            <a:spAutoFit/>
          </a:bodyPr>
          <a:lstStyle/>
          <a:p>
            <a:pPr marL="12700">
              <a:lnSpc>
                <a:spcPct val="100000"/>
              </a:lnSpc>
              <a:spcBef>
                <a:spcPts val="100"/>
              </a:spcBef>
            </a:pPr>
            <a:r>
              <a:rPr lang="en-IN" sz="3200" dirty="0"/>
              <a:t>BLUE BRAIN PROJECT</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198755" y="1385315"/>
            <a:ext cx="7116446" cy="3413755"/>
          </a:xfrm>
          <a:prstGeom prst="rect">
            <a:avLst/>
          </a:prstGeom>
        </p:spPr>
        <p:txBody>
          <a:bodyPr vert="horz" wrap="square" lIns="0" tIns="12700" rIns="0" bIns="0" rtlCol="0">
            <a:spAutoFit/>
          </a:bodyPr>
          <a:lstStyle/>
          <a:p>
            <a:pPr marL="355600" indent="-342900">
              <a:lnSpc>
                <a:spcPct val="100000"/>
              </a:lnSpc>
              <a:spcBef>
                <a:spcPts val="100"/>
              </a:spcBef>
              <a:buFont typeface="Arial"/>
              <a:buChar char="•"/>
              <a:tabLst>
                <a:tab pos="354965" algn="l"/>
                <a:tab pos="355600" algn="l"/>
              </a:tabLst>
            </a:pPr>
            <a:r>
              <a:rPr lang="en-US" dirty="0"/>
              <a:t>THE IBM’S BLUE BRAIN AT LAUSANNE SWITZERLAND</a:t>
            </a:r>
          </a:p>
          <a:p>
            <a:pPr marL="355600" indent="-342900">
              <a:lnSpc>
                <a:spcPct val="100000"/>
              </a:lnSpc>
              <a:spcBef>
                <a:spcPts val="100"/>
              </a:spcBef>
              <a:buFont typeface="Arial"/>
              <a:buChar char="•"/>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IBM’S blue brain project will search for insights into how human beings think and remember. </a:t>
            </a:r>
          </a:p>
          <a:p>
            <a:pPr marL="355600" indent="-342900">
              <a:lnSpc>
                <a:spcPct val="100000"/>
              </a:lnSpc>
              <a:spcBef>
                <a:spcPts val="100"/>
              </a:spcBef>
              <a:buFont typeface="Arial"/>
              <a:buChar char="•"/>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scientists think that blue brain could also help to cure the Parkinson's disease. </a:t>
            </a:r>
          </a:p>
          <a:p>
            <a:pPr marL="355600" indent="-342900">
              <a:lnSpc>
                <a:spcPct val="100000"/>
              </a:lnSpc>
              <a:spcBef>
                <a:spcPts val="100"/>
              </a:spcBef>
              <a:buFont typeface="Arial"/>
              <a:buChar char="•"/>
              <a:tabLst>
                <a:tab pos="354965" algn="l"/>
                <a:tab pos="355600" algn="l"/>
              </a:tabLst>
            </a:pPr>
            <a:endParaRPr lang="en-US" dirty="0"/>
          </a:p>
          <a:p>
            <a:pPr marL="355600" indent="-342900">
              <a:lnSpc>
                <a:spcPct val="100000"/>
              </a:lnSpc>
              <a:spcBef>
                <a:spcPts val="100"/>
              </a:spcBef>
              <a:buFont typeface="Arial"/>
              <a:buChar char="•"/>
              <a:tabLst>
                <a:tab pos="354965" algn="l"/>
                <a:tab pos="355600" algn="l"/>
              </a:tabLst>
            </a:pPr>
            <a:r>
              <a:rPr lang="en-US" dirty="0"/>
              <a:t>the brain circuitry is in a complex state of flux, the brain rewiring itself every moment of its existence. if the scientists can crack open the secret of how and why the brain does it, the knowledge could lead to new breed of supercomputers.  </a:t>
            </a:r>
            <a:endParaRPr sz="1800" dirty="0">
              <a:latin typeface="Times New Roman"/>
              <a:cs typeface="Times New Roman"/>
            </a:endParaRPr>
          </a:p>
        </p:txBody>
      </p:sp>
      <p:sp>
        <p:nvSpPr>
          <p:cNvPr id="8" name="object 8"/>
          <p:cNvSpPr txBox="1">
            <a:spLocks noGrp="1"/>
          </p:cNvSpPr>
          <p:nvPr>
            <p:ph type="dt" sz="half" idx="6"/>
          </p:nvPr>
        </p:nvSpPr>
        <p:spPr>
          <a:xfrm>
            <a:off x="917257" y="6424783"/>
            <a:ext cx="1087120" cy="217367"/>
          </a:xfrm>
          <a:prstGeom prst="rect">
            <a:avLst/>
          </a:prstGeom>
        </p:spPr>
        <p:txBody>
          <a:bodyPr vert="horz" wrap="square" lIns="0" tIns="1905" rIns="0" bIns="0" rtlCol="0">
            <a:spAutoFit/>
          </a:bodyPr>
          <a:lstStyle/>
          <a:p>
            <a:pPr marL="12700">
              <a:lnSpc>
                <a:spcPct val="100000"/>
              </a:lnSpc>
              <a:spcBef>
                <a:spcPts val="15"/>
              </a:spcBef>
            </a:pPr>
            <a:r>
              <a:rPr lang="en-US" spc="-5" dirty="0"/>
              <a:t>30</a:t>
            </a:r>
            <a:r>
              <a:rPr spc="-10" dirty="0"/>
              <a:t>-</a:t>
            </a:r>
            <a:r>
              <a:rPr spc="-5" dirty="0"/>
              <a:t>03</a:t>
            </a:r>
            <a:r>
              <a:rPr spc="-10" dirty="0"/>
              <a:t>-</a:t>
            </a:r>
            <a:r>
              <a:rPr spc="-5" dirty="0"/>
              <a:t>2023</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pic>
        <p:nvPicPr>
          <p:cNvPr id="11" name="Picture 10">
            <a:extLst>
              <a:ext uri="{FF2B5EF4-FFF2-40B4-BE49-F238E27FC236}">
                <a16:creationId xmlns:a16="http://schemas.microsoft.com/office/drawing/2014/main" id="{E979AAA4-5D7D-BD68-6148-98AC15EA98DB}"/>
              </a:ext>
            </a:extLst>
          </p:cNvPr>
          <p:cNvPicPr>
            <a:picLocks noChangeAspect="1"/>
          </p:cNvPicPr>
          <p:nvPr/>
        </p:nvPicPr>
        <p:blipFill>
          <a:blip r:embed="rId2"/>
          <a:stretch>
            <a:fillRect/>
          </a:stretch>
        </p:blipFill>
        <p:spPr>
          <a:xfrm>
            <a:off x="7543800" y="1187133"/>
            <a:ext cx="2684945" cy="2259607"/>
          </a:xfrm>
          <a:prstGeom prst="rect">
            <a:avLst/>
          </a:prstGeom>
        </p:spPr>
      </p:pic>
      <p:pic>
        <p:nvPicPr>
          <p:cNvPr id="13" name="Picture 12">
            <a:extLst>
              <a:ext uri="{FF2B5EF4-FFF2-40B4-BE49-F238E27FC236}">
                <a16:creationId xmlns:a16="http://schemas.microsoft.com/office/drawing/2014/main" id="{63264875-5B0A-0AD4-1ACD-6679B20AF2F4}"/>
              </a:ext>
            </a:extLst>
          </p:cNvPr>
          <p:cNvPicPr>
            <a:picLocks noChangeAspect="1"/>
          </p:cNvPicPr>
          <p:nvPr/>
        </p:nvPicPr>
        <p:blipFill>
          <a:blip r:embed="rId3"/>
          <a:stretch>
            <a:fillRect/>
          </a:stretch>
        </p:blipFill>
        <p:spPr>
          <a:xfrm>
            <a:off x="9048581" y="3881834"/>
            <a:ext cx="2838619" cy="2308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75646"/>
            <a:ext cx="4734560" cy="505267"/>
          </a:xfrm>
          <a:prstGeom prst="rect">
            <a:avLst/>
          </a:prstGeom>
        </p:spPr>
        <p:txBody>
          <a:bodyPr vert="horz" wrap="square" lIns="0" tIns="12700" rIns="0" bIns="0" rtlCol="0">
            <a:spAutoFit/>
          </a:bodyPr>
          <a:lstStyle/>
          <a:p>
            <a:pPr marL="12700">
              <a:lnSpc>
                <a:spcPct val="100000"/>
              </a:lnSpc>
              <a:spcBef>
                <a:spcPts val="100"/>
              </a:spcBef>
            </a:pPr>
            <a:r>
              <a:rPr lang="en-IN" sz="3200" dirty="0"/>
              <a:t>UPLOADING HUMAN BRAIN </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624203" y="3947387"/>
            <a:ext cx="10571480" cy="2115964"/>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a:cs typeface="Times New Roman"/>
              </a:rPr>
              <a:t>Disadvantages</a:t>
            </a:r>
            <a:r>
              <a:rPr sz="1800" spc="45" dirty="0">
                <a:latin typeface="Times New Roman"/>
                <a:cs typeface="Times New Roman"/>
              </a:rPr>
              <a:t> </a:t>
            </a:r>
            <a:r>
              <a:rPr sz="1800" dirty="0">
                <a:latin typeface="Times New Roman"/>
                <a:cs typeface="Times New Roman"/>
              </a:rPr>
              <a:t>-</a:t>
            </a:r>
          </a:p>
          <a:p>
            <a:pPr marL="355600" indent="-342900">
              <a:lnSpc>
                <a:spcPct val="100000"/>
              </a:lnSpc>
              <a:spcBef>
                <a:spcPts val="1360"/>
              </a:spcBef>
              <a:buFont typeface="Arial"/>
              <a:buChar char="•"/>
              <a:tabLst>
                <a:tab pos="354965" algn="l"/>
                <a:tab pos="355600" algn="l"/>
              </a:tabLst>
            </a:pPr>
            <a:r>
              <a:rPr lang="en-US" dirty="0"/>
              <a:t>We become dependent upon the computer systems. </a:t>
            </a:r>
          </a:p>
          <a:p>
            <a:pPr marL="355600" indent="-342900">
              <a:lnSpc>
                <a:spcPct val="100000"/>
              </a:lnSpc>
              <a:spcBef>
                <a:spcPts val="1360"/>
              </a:spcBef>
              <a:buFont typeface="Arial"/>
              <a:buChar char="•"/>
              <a:tabLst>
                <a:tab pos="354965" algn="l"/>
                <a:tab pos="355600" algn="l"/>
              </a:tabLst>
            </a:pPr>
            <a:r>
              <a:rPr lang="en-US" dirty="0"/>
              <a:t>Others may use technical knowledge against us. </a:t>
            </a:r>
          </a:p>
          <a:p>
            <a:pPr marL="355600" indent="-342900">
              <a:lnSpc>
                <a:spcPct val="100000"/>
              </a:lnSpc>
              <a:spcBef>
                <a:spcPts val="1360"/>
              </a:spcBef>
              <a:buFont typeface="Arial"/>
              <a:buChar char="•"/>
              <a:tabLst>
                <a:tab pos="354965" algn="l"/>
                <a:tab pos="355600" algn="l"/>
              </a:tabLst>
            </a:pPr>
            <a:r>
              <a:rPr lang="en-US" dirty="0"/>
              <a:t>Computer viruses will pose an increasingly critical threat. </a:t>
            </a:r>
          </a:p>
          <a:p>
            <a:pPr marL="355600" indent="-342900">
              <a:lnSpc>
                <a:spcPct val="100000"/>
              </a:lnSpc>
              <a:spcBef>
                <a:spcPts val="1360"/>
              </a:spcBef>
              <a:buFont typeface="Arial"/>
              <a:buChar char="•"/>
              <a:tabLst>
                <a:tab pos="354965" algn="l"/>
                <a:tab pos="355600" algn="l"/>
              </a:tabLst>
            </a:pPr>
            <a:r>
              <a:rPr lang="en-US" dirty="0"/>
              <a:t>Possibilities of human cloning</a:t>
            </a:r>
            <a:endParaRPr sz="1800" dirty="0">
              <a:latin typeface="Times New Roman"/>
              <a:cs typeface="Times New Roman"/>
            </a:endParaRPr>
          </a:p>
        </p:txBody>
      </p:sp>
      <p:sp>
        <p:nvSpPr>
          <p:cNvPr id="8" name="object 8"/>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7" name="object 7"/>
          <p:cNvSpPr txBox="1"/>
          <p:nvPr/>
        </p:nvSpPr>
        <p:spPr>
          <a:xfrm>
            <a:off x="689926" y="1376045"/>
            <a:ext cx="10571479" cy="2213426"/>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a:cs typeface="Times New Roman"/>
              </a:rPr>
              <a:t>Advantages</a:t>
            </a:r>
            <a:r>
              <a:rPr sz="1800" spc="45" dirty="0">
                <a:latin typeface="Times New Roman"/>
                <a:cs typeface="Times New Roman"/>
              </a:rPr>
              <a:t> </a:t>
            </a:r>
            <a:r>
              <a:rPr sz="1800" dirty="0">
                <a:latin typeface="Times New Roman"/>
                <a:cs typeface="Times New Roman"/>
              </a:rPr>
              <a:t>-</a:t>
            </a:r>
          </a:p>
          <a:p>
            <a:pPr marL="355600" indent="-342900">
              <a:lnSpc>
                <a:spcPct val="100000"/>
              </a:lnSpc>
              <a:spcBef>
                <a:spcPts val="1360"/>
              </a:spcBef>
              <a:buFont typeface="Arial"/>
              <a:buChar char="•"/>
              <a:tabLst>
                <a:tab pos="354965" algn="l"/>
                <a:tab pos="355600" algn="l"/>
              </a:tabLst>
            </a:pPr>
            <a:r>
              <a:rPr lang="en-US" dirty="0"/>
              <a:t>blue brain is an approach to store and utilize human intelligence and information present in the mind even after human demise. </a:t>
            </a:r>
          </a:p>
          <a:p>
            <a:pPr marL="355600" indent="-342900">
              <a:lnSpc>
                <a:spcPct val="100000"/>
              </a:lnSpc>
              <a:spcBef>
                <a:spcPts val="1360"/>
              </a:spcBef>
              <a:buFont typeface="Arial"/>
              <a:buChar char="•"/>
              <a:tabLst>
                <a:tab pos="354965" algn="l"/>
                <a:tab pos="355600" algn="l"/>
              </a:tabLst>
            </a:pPr>
            <a:r>
              <a:rPr lang="en-US" dirty="0"/>
              <a:t> it is an important move towards self -decision making by the computer or machine that holds a blue brain. </a:t>
            </a:r>
          </a:p>
          <a:p>
            <a:pPr marL="355600" indent="-342900">
              <a:lnSpc>
                <a:spcPct val="100000"/>
              </a:lnSpc>
              <a:spcBef>
                <a:spcPts val="1360"/>
              </a:spcBef>
              <a:buFont typeface="Arial"/>
              <a:buChar char="•"/>
              <a:tabLst>
                <a:tab pos="354965" algn="l"/>
                <a:tab pos="355600" algn="l"/>
              </a:tabLst>
            </a:pPr>
            <a:r>
              <a:rPr lang="en-US" dirty="0"/>
              <a:t> business analysis, attending conferences, reporting, etc. are very significant functions that an intelligent machine can do consistently.</a:t>
            </a:r>
            <a:r>
              <a:rPr sz="1800" dirty="0">
                <a:latin typeface="Times New Roman"/>
                <a:cs typeface="Times New Roman"/>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9611360" cy="505267"/>
          </a:xfrm>
          <a:prstGeom prst="rect">
            <a:avLst/>
          </a:prstGeom>
        </p:spPr>
        <p:txBody>
          <a:bodyPr vert="horz" wrap="square" lIns="0" tIns="12700" rIns="0" bIns="0" rtlCol="0">
            <a:spAutoFit/>
          </a:bodyPr>
          <a:lstStyle/>
          <a:p>
            <a:pPr marL="12700">
              <a:lnSpc>
                <a:spcPct val="100000"/>
              </a:lnSpc>
              <a:spcBef>
                <a:spcPts val="100"/>
              </a:spcBef>
            </a:pPr>
            <a:r>
              <a:rPr lang="en-IN" sz="3200" dirty="0"/>
              <a:t>BLUE BRAIN SIMULATION USING MICROPROCESSOR</a:t>
            </a:r>
            <a:endParaRPr sz="3200" b="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917257" y="1826808"/>
            <a:ext cx="5651818" cy="1690847"/>
          </a:xfrm>
          <a:prstGeom prst="rect">
            <a:avLst/>
          </a:prstGeom>
        </p:spPr>
        <p:txBody>
          <a:bodyPr vert="horz" wrap="square" lIns="0" tIns="150495" rIns="0" bIns="0" rtlCol="0">
            <a:spAutoFit/>
          </a:bodyPr>
          <a:lstStyle/>
          <a:p>
            <a:pPr marL="93345" indent="-81280">
              <a:lnSpc>
                <a:spcPct val="100000"/>
              </a:lnSpc>
              <a:spcBef>
                <a:spcPts val="1185"/>
              </a:spcBef>
              <a:buSzPct val="94444"/>
              <a:buChar char="•"/>
              <a:tabLst>
                <a:tab pos="93980" algn="l"/>
              </a:tabLst>
            </a:pPr>
            <a:r>
              <a:rPr lang="en-US" dirty="0"/>
              <a:t>The Blue Brain simulation uses one microprocessor for each of the 10,000 neurons in the cortical column of a rat's cerebral cortex.</a:t>
            </a:r>
          </a:p>
          <a:p>
            <a:pPr marL="93345" indent="-81280">
              <a:lnSpc>
                <a:spcPct val="100000"/>
              </a:lnSpc>
              <a:spcBef>
                <a:spcPts val="1185"/>
              </a:spcBef>
              <a:buSzPct val="94444"/>
              <a:buChar char="•"/>
              <a:tabLst>
                <a:tab pos="93980" algn="l"/>
              </a:tabLst>
            </a:pPr>
            <a:r>
              <a:rPr lang="en-US" dirty="0"/>
              <a:t> It helps to build a brain microcircuit, in order to scale it in human brain. </a:t>
            </a:r>
            <a:endParaRPr sz="1800" dirty="0">
              <a:latin typeface="Arial"/>
              <a:cs typeface="Arial"/>
            </a:endParaRPr>
          </a:p>
        </p:txBody>
      </p:sp>
      <p:sp>
        <p:nvSpPr>
          <p:cNvPr id="8" name="object 8"/>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pic>
        <p:nvPicPr>
          <p:cNvPr id="11" name="Picture 10">
            <a:extLst>
              <a:ext uri="{FF2B5EF4-FFF2-40B4-BE49-F238E27FC236}">
                <a16:creationId xmlns:a16="http://schemas.microsoft.com/office/drawing/2014/main" id="{5A74F768-FBD4-9585-D3CD-E4EDBFA43FD9}"/>
              </a:ext>
            </a:extLst>
          </p:cNvPr>
          <p:cNvPicPr>
            <a:picLocks noChangeAspect="1"/>
          </p:cNvPicPr>
          <p:nvPr/>
        </p:nvPicPr>
        <p:blipFill>
          <a:blip r:embed="rId2"/>
          <a:stretch>
            <a:fillRect/>
          </a:stretch>
        </p:blipFill>
        <p:spPr>
          <a:xfrm>
            <a:off x="7299439" y="2895600"/>
            <a:ext cx="3975304" cy="31878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4886960" cy="505267"/>
          </a:xfrm>
          <a:prstGeom prst="rect">
            <a:avLst/>
          </a:prstGeom>
        </p:spPr>
        <p:txBody>
          <a:bodyPr vert="horz" wrap="square" lIns="0" tIns="12700" rIns="0" bIns="0" rtlCol="0">
            <a:spAutoFit/>
          </a:bodyPr>
          <a:lstStyle/>
          <a:p>
            <a:pPr marL="12700">
              <a:lnSpc>
                <a:spcPct val="100000"/>
              </a:lnSpc>
              <a:spcBef>
                <a:spcPts val="100"/>
              </a:spcBef>
            </a:pPr>
            <a:r>
              <a:rPr lang="en-IN" sz="3200" dirty="0"/>
              <a:t>BENEFITS OF BLUE BRAIN</a:t>
            </a:r>
            <a:endParaRPr sz="3200" dirty="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523240" y="1371600"/>
            <a:ext cx="11490325" cy="2846292"/>
          </a:xfrm>
          <a:prstGeom prst="rect">
            <a:avLst/>
          </a:prstGeom>
        </p:spPr>
        <p:txBody>
          <a:bodyPr vert="horz" wrap="square" lIns="0" tIns="164465" rIns="0" bIns="0" rtlCol="0">
            <a:spAutoFit/>
          </a:bodyPr>
          <a:lstStyle/>
          <a:p>
            <a:pPr marL="104139" indent="-91440">
              <a:lnSpc>
                <a:spcPct val="100000"/>
              </a:lnSpc>
              <a:spcBef>
                <a:spcPts val="1295"/>
              </a:spcBef>
              <a:buClr>
                <a:srgbClr val="4471C4"/>
              </a:buClr>
              <a:buSzPct val="95000"/>
              <a:buFont typeface="Arial"/>
              <a:buChar char="•"/>
              <a:tabLst>
                <a:tab pos="104139" algn="l"/>
              </a:tabLst>
            </a:pPr>
            <a:r>
              <a:rPr lang="en-US" sz="2000" dirty="0"/>
              <a:t> it acts as a supercomputer. </a:t>
            </a:r>
          </a:p>
          <a:p>
            <a:pPr marL="104139" indent="-91440">
              <a:lnSpc>
                <a:spcPct val="100000"/>
              </a:lnSpc>
              <a:spcBef>
                <a:spcPts val="1295"/>
              </a:spcBef>
              <a:buClr>
                <a:srgbClr val="4471C4"/>
              </a:buClr>
              <a:buSzPct val="95000"/>
              <a:buFont typeface="Arial"/>
              <a:buChar char="•"/>
              <a:tabLst>
                <a:tab pos="104139" algn="l"/>
              </a:tabLst>
            </a:pPr>
            <a:r>
              <a:rPr lang="en-US" sz="2000" dirty="0"/>
              <a:t> improvements in processing , speed and memory could make entire human brain simulated. </a:t>
            </a:r>
          </a:p>
          <a:p>
            <a:pPr marL="104139" indent="-91440">
              <a:lnSpc>
                <a:spcPct val="100000"/>
              </a:lnSpc>
              <a:spcBef>
                <a:spcPts val="1295"/>
              </a:spcBef>
              <a:buClr>
                <a:srgbClr val="4471C4"/>
              </a:buClr>
              <a:buSzPct val="95000"/>
              <a:buFont typeface="Arial"/>
              <a:buChar char="•"/>
              <a:tabLst>
                <a:tab pos="104139" algn="l"/>
              </a:tabLst>
            </a:pPr>
            <a:r>
              <a:rPr lang="en-US" sz="2000" dirty="0"/>
              <a:t> things could be remembered without any effort. </a:t>
            </a:r>
          </a:p>
          <a:p>
            <a:pPr marL="104139" indent="-91440">
              <a:lnSpc>
                <a:spcPct val="100000"/>
              </a:lnSpc>
              <a:spcBef>
                <a:spcPts val="1295"/>
              </a:spcBef>
              <a:buClr>
                <a:srgbClr val="4471C4"/>
              </a:buClr>
              <a:buSzPct val="95000"/>
              <a:buFont typeface="Arial"/>
              <a:buChar char="•"/>
              <a:tabLst>
                <a:tab pos="104139" algn="l"/>
              </a:tabLst>
            </a:pPr>
            <a:r>
              <a:rPr lang="en-US" sz="2000" dirty="0"/>
              <a:t> use the intelligence of the person after death. </a:t>
            </a:r>
          </a:p>
          <a:p>
            <a:pPr marL="104139" indent="-91440">
              <a:lnSpc>
                <a:spcPct val="100000"/>
              </a:lnSpc>
              <a:spcBef>
                <a:spcPts val="1295"/>
              </a:spcBef>
              <a:buClr>
                <a:srgbClr val="4471C4"/>
              </a:buClr>
              <a:buSzPct val="95000"/>
              <a:buFont typeface="Arial"/>
              <a:buChar char="•"/>
              <a:tabLst>
                <a:tab pos="104139" algn="l"/>
              </a:tabLst>
            </a:pPr>
            <a:r>
              <a:rPr lang="en-US" sz="2000" dirty="0"/>
              <a:t>it can make decisions entirely of its own. </a:t>
            </a:r>
          </a:p>
          <a:p>
            <a:pPr marL="104139" indent="-91440">
              <a:lnSpc>
                <a:spcPct val="100000"/>
              </a:lnSpc>
              <a:spcBef>
                <a:spcPts val="1295"/>
              </a:spcBef>
              <a:buClr>
                <a:srgbClr val="4471C4"/>
              </a:buClr>
              <a:buSzPct val="95000"/>
              <a:buFont typeface="Arial"/>
              <a:buChar char="•"/>
              <a:tabLst>
                <a:tab pos="104139" algn="l"/>
              </a:tabLst>
            </a:pPr>
            <a:r>
              <a:rPr lang="en-US" sz="2000" dirty="0"/>
              <a:t>allowing the deaf to hear via direct nerve simulation. </a:t>
            </a:r>
            <a:endParaRPr sz="2000" dirty="0">
              <a:latin typeface="Times New Roman"/>
              <a:cs typeface="Times New Roman"/>
            </a:endParaRPr>
          </a:p>
        </p:txBody>
      </p:sp>
      <p:sp>
        <p:nvSpPr>
          <p:cNvPr id="7" name="object 7"/>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2110105" cy="513715"/>
          </a:xfrm>
          <a:prstGeom prst="rect">
            <a:avLst/>
          </a:prstGeom>
        </p:spPr>
        <p:txBody>
          <a:bodyPr vert="horz" wrap="square" lIns="0" tIns="12700" rIns="0" bIns="0" rtlCol="0">
            <a:spAutoFit/>
          </a:bodyPr>
          <a:lstStyle/>
          <a:p>
            <a:pPr marL="12700">
              <a:lnSpc>
                <a:spcPct val="100000"/>
              </a:lnSpc>
              <a:spcBef>
                <a:spcPts val="100"/>
              </a:spcBef>
            </a:pPr>
            <a:r>
              <a:rPr sz="3200" spc="-10" dirty="0"/>
              <a:t>Applications</a:t>
            </a:r>
            <a:endParaRPr sz="320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
        <p:nvSpPr>
          <p:cNvPr id="15" name="TextBox 14">
            <a:extLst>
              <a:ext uri="{FF2B5EF4-FFF2-40B4-BE49-F238E27FC236}">
                <a16:creationId xmlns:a16="http://schemas.microsoft.com/office/drawing/2014/main" id="{6BCE938A-3B19-6DE7-2EEA-AAC88473A9A4}"/>
              </a:ext>
            </a:extLst>
          </p:cNvPr>
          <p:cNvSpPr txBox="1"/>
          <p:nvPr/>
        </p:nvSpPr>
        <p:spPr>
          <a:xfrm>
            <a:off x="762000" y="1569720"/>
            <a:ext cx="8382000" cy="3139321"/>
          </a:xfrm>
          <a:prstGeom prst="rect">
            <a:avLst/>
          </a:prstGeom>
          <a:noFill/>
        </p:spPr>
        <p:txBody>
          <a:bodyPr wrap="square">
            <a:spAutoFit/>
          </a:bodyPr>
          <a:lstStyle/>
          <a:p>
            <a:pPr marL="285750" indent="-285750">
              <a:buFont typeface="Arial" panose="020B0604020202020204" pitchFamily="34" charset="0"/>
              <a:buChar char="•"/>
            </a:pPr>
            <a:r>
              <a:rPr lang="en-US" dirty="0"/>
              <a:t>Gathering and testing 100 years of data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Cracking the Neural Code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Understanding Neocortical Information Processing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Novel Tool for Drug Discovery for Brain Disorders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Foundation for Whole Brain Simulations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Foundation for Molecular Modeling of Brain Function </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1835785" cy="513715"/>
          </a:xfrm>
          <a:prstGeom prst="rect">
            <a:avLst/>
          </a:prstGeom>
        </p:spPr>
        <p:txBody>
          <a:bodyPr vert="horz" wrap="square" lIns="0" tIns="12700" rIns="0" bIns="0" rtlCol="0">
            <a:spAutoFit/>
          </a:bodyPr>
          <a:lstStyle/>
          <a:p>
            <a:pPr marL="12700">
              <a:lnSpc>
                <a:spcPct val="100000"/>
              </a:lnSpc>
              <a:spcBef>
                <a:spcPts val="100"/>
              </a:spcBef>
            </a:pPr>
            <a:r>
              <a:rPr sz="3200" spc="-10" dirty="0"/>
              <a:t>Challenges</a:t>
            </a:r>
            <a:endParaRPr sz="320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304801" y="1190943"/>
            <a:ext cx="11658600" cy="4950073"/>
          </a:xfrm>
          <a:prstGeom prst="rect">
            <a:avLst/>
          </a:prstGeom>
        </p:spPr>
        <p:txBody>
          <a:bodyPr vert="horz" wrap="square" lIns="0" tIns="12700" rIns="0" bIns="0" rtlCol="0">
            <a:spAutoFit/>
          </a:bodyPr>
          <a:lstStyle/>
          <a:p>
            <a:pPr marL="167640" indent="-154940">
              <a:lnSpc>
                <a:spcPct val="100000"/>
              </a:lnSpc>
              <a:spcBef>
                <a:spcPts val="100"/>
              </a:spcBef>
              <a:buClr>
                <a:srgbClr val="4471C4"/>
              </a:buClr>
              <a:buFont typeface="Arial"/>
              <a:buChar char="•"/>
              <a:tabLst>
                <a:tab pos="167640" algn="l"/>
              </a:tabLst>
            </a:pPr>
            <a:r>
              <a:rPr lang="en-IN" sz="2000" dirty="0"/>
              <a:t>Neural Complexity:</a:t>
            </a:r>
          </a:p>
          <a:p>
            <a:pPr marL="12700">
              <a:lnSpc>
                <a:spcPct val="100000"/>
              </a:lnSpc>
              <a:spcBef>
                <a:spcPts val="100"/>
              </a:spcBef>
              <a:buClr>
                <a:srgbClr val="4471C4"/>
              </a:buClr>
              <a:tabLst>
                <a:tab pos="167640" algn="l"/>
              </a:tabLst>
            </a:pPr>
            <a:r>
              <a:rPr lang="en-IN" sz="2000" dirty="0"/>
              <a:t>           </a:t>
            </a:r>
            <a:r>
              <a:rPr lang="en-US" sz="2000" dirty="0"/>
              <a:t>Complex dendritic computations affect the probability and frequency of neural firing. </a:t>
            </a:r>
            <a:r>
              <a:rPr lang="en-IN" sz="2000" dirty="0"/>
              <a:t> </a:t>
            </a:r>
          </a:p>
          <a:p>
            <a:pPr marL="167640" indent="-154940">
              <a:lnSpc>
                <a:spcPct val="100000"/>
              </a:lnSpc>
              <a:spcBef>
                <a:spcPts val="5"/>
              </a:spcBef>
              <a:buClr>
                <a:srgbClr val="4471C4"/>
              </a:buClr>
              <a:buFont typeface="Arial"/>
              <a:buChar char="•"/>
              <a:tabLst>
                <a:tab pos="167640" algn="l"/>
              </a:tabLst>
            </a:pPr>
            <a:endParaRPr lang="en-IN" sz="1500" dirty="0"/>
          </a:p>
          <a:p>
            <a:pPr marL="167640" indent="-154940">
              <a:lnSpc>
                <a:spcPct val="100000"/>
              </a:lnSpc>
              <a:spcBef>
                <a:spcPts val="5"/>
              </a:spcBef>
              <a:buClr>
                <a:srgbClr val="4471C4"/>
              </a:buClr>
              <a:buFont typeface="Arial"/>
              <a:buChar char="•"/>
              <a:tabLst>
                <a:tab pos="167640" algn="l"/>
              </a:tabLst>
            </a:pPr>
            <a:r>
              <a:rPr lang="en-IN" sz="2000" dirty="0"/>
              <a:t>Scale</a:t>
            </a:r>
          </a:p>
          <a:p>
            <a:pPr marL="12700">
              <a:lnSpc>
                <a:spcPct val="100000"/>
              </a:lnSpc>
              <a:spcBef>
                <a:spcPts val="5"/>
              </a:spcBef>
              <a:buClr>
                <a:srgbClr val="4471C4"/>
              </a:buClr>
              <a:tabLst>
                <a:tab pos="167640" algn="l"/>
              </a:tabLst>
            </a:pPr>
            <a:r>
              <a:rPr lang="en-IN" sz="2000" dirty="0"/>
              <a:t>           </a:t>
            </a:r>
            <a:r>
              <a:rPr lang="en-US" sz="2000" dirty="0"/>
              <a:t>A massive system is required to emulate the brain: none of the projects we discuss have come close to this scale at present.</a:t>
            </a:r>
            <a:endParaRPr lang="en-IN" sz="2000" dirty="0"/>
          </a:p>
          <a:p>
            <a:pPr marL="167640" indent="-154940">
              <a:lnSpc>
                <a:spcPct val="100000"/>
              </a:lnSpc>
              <a:spcBef>
                <a:spcPts val="5"/>
              </a:spcBef>
              <a:buClr>
                <a:srgbClr val="4471C4"/>
              </a:buClr>
              <a:buFont typeface="Arial"/>
              <a:buChar char="•"/>
              <a:tabLst>
                <a:tab pos="167640" algn="l"/>
              </a:tabLst>
            </a:pPr>
            <a:endParaRPr sz="1500" dirty="0">
              <a:latin typeface="Times New Roman"/>
              <a:cs typeface="Times New Roman"/>
            </a:endParaRPr>
          </a:p>
          <a:p>
            <a:pPr marL="167640" indent="-154940">
              <a:lnSpc>
                <a:spcPct val="100000"/>
              </a:lnSpc>
              <a:buClr>
                <a:srgbClr val="4471C4"/>
              </a:buClr>
              <a:buFont typeface="Arial"/>
              <a:buChar char="•"/>
              <a:tabLst>
                <a:tab pos="167640" algn="l"/>
              </a:tabLst>
            </a:pPr>
            <a:r>
              <a:rPr lang="en-IN" sz="2000" dirty="0"/>
              <a:t>Interconnectivity</a:t>
            </a:r>
          </a:p>
          <a:p>
            <a:pPr marL="12700">
              <a:lnSpc>
                <a:spcPct val="100000"/>
              </a:lnSpc>
              <a:buClr>
                <a:srgbClr val="4471C4"/>
              </a:buClr>
              <a:tabLst>
                <a:tab pos="167640" algn="l"/>
              </a:tabLst>
            </a:pPr>
            <a:r>
              <a:rPr lang="en-IN" sz="2000" dirty="0"/>
              <a:t>         </a:t>
            </a:r>
            <a:r>
              <a:rPr lang="en-US" sz="2000" dirty="0"/>
              <a:t>Emulation of the cortex in hardware represents a massive “wiring” problem. </a:t>
            </a:r>
            <a:endParaRPr lang="en-IN" sz="2000" dirty="0"/>
          </a:p>
          <a:p>
            <a:pPr marL="167640" indent="-154940">
              <a:lnSpc>
                <a:spcPct val="100000"/>
              </a:lnSpc>
              <a:buClr>
                <a:srgbClr val="4471C4"/>
              </a:buClr>
              <a:buFont typeface="Arial"/>
              <a:buChar char="•"/>
              <a:tabLst>
                <a:tab pos="167640" algn="l"/>
              </a:tabLst>
            </a:pPr>
            <a:endParaRPr sz="1500" dirty="0">
              <a:latin typeface="Times New Roman"/>
              <a:cs typeface="Times New Roman"/>
            </a:endParaRPr>
          </a:p>
          <a:p>
            <a:pPr marL="152400" indent="-139700">
              <a:lnSpc>
                <a:spcPct val="100000"/>
              </a:lnSpc>
              <a:buClr>
                <a:srgbClr val="4471C4"/>
              </a:buClr>
              <a:buFont typeface="Arial"/>
              <a:buChar char="•"/>
              <a:tabLst>
                <a:tab pos="152400" algn="l"/>
              </a:tabLst>
            </a:pPr>
            <a:r>
              <a:rPr lang="en-IN" sz="2000" dirty="0"/>
              <a:t>Plasticity</a:t>
            </a:r>
          </a:p>
          <a:p>
            <a:pPr marL="12700">
              <a:lnSpc>
                <a:spcPct val="100000"/>
              </a:lnSpc>
              <a:buClr>
                <a:srgbClr val="4471C4"/>
              </a:buClr>
              <a:tabLst>
                <a:tab pos="152400" algn="l"/>
              </a:tabLst>
            </a:pPr>
            <a:r>
              <a:rPr lang="en-IN" sz="2000" dirty="0"/>
              <a:t>         </a:t>
            </a:r>
            <a:r>
              <a:rPr lang="en-US" sz="2000" dirty="0"/>
              <a:t>The strength of the excitatory or inhibitory connection must change with learning, and neurons must also be able to create new synapses</a:t>
            </a:r>
            <a:endParaRPr lang="en-IN" sz="2000" dirty="0"/>
          </a:p>
          <a:p>
            <a:pPr marL="152400" indent="-139700">
              <a:lnSpc>
                <a:spcPct val="100000"/>
              </a:lnSpc>
              <a:buClr>
                <a:srgbClr val="4471C4"/>
              </a:buClr>
              <a:buFont typeface="Arial"/>
              <a:buChar char="•"/>
              <a:tabLst>
                <a:tab pos="152400" algn="l"/>
              </a:tabLst>
            </a:pPr>
            <a:endParaRPr sz="1500" dirty="0">
              <a:latin typeface="Times New Roman"/>
              <a:cs typeface="Times New Roman"/>
            </a:endParaRPr>
          </a:p>
          <a:p>
            <a:pPr marL="167640" indent="-154940">
              <a:lnSpc>
                <a:spcPct val="100000"/>
              </a:lnSpc>
              <a:buClr>
                <a:srgbClr val="4471C4"/>
              </a:buClr>
              <a:buFont typeface="Arial"/>
              <a:buChar char="•"/>
              <a:tabLst>
                <a:tab pos="167640" algn="l"/>
              </a:tabLst>
            </a:pPr>
            <a:r>
              <a:rPr lang="en-IN" sz="2000" dirty="0"/>
              <a:t>Power consumption</a:t>
            </a:r>
          </a:p>
          <a:p>
            <a:pPr marL="12700">
              <a:lnSpc>
                <a:spcPct val="100000"/>
              </a:lnSpc>
              <a:buClr>
                <a:srgbClr val="4471C4"/>
              </a:buClr>
              <a:tabLst>
                <a:tab pos="167640" algn="l"/>
              </a:tabLst>
            </a:pPr>
            <a:r>
              <a:rPr lang="en-IN" sz="2000" dirty="0">
                <a:latin typeface="Times New Roman"/>
                <a:cs typeface="Times New Roman"/>
              </a:rPr>
              <a:t>        </a:t>
            </a:r>
            <a:r>
              <a:rPr lang="en-US" sz="2000" dirty="0"/>
              <a:t>A final, indirect problem is the power consumed by a brain emulation with 50 billion neurons and 500 trillion connections,</a:t>
            </a:r>
            <a:endParaRPr sz="2000" dirty="0">
              <a:latin typeface="Times New Roman"/>
              <a:cs typeface="Times New Roman"/>
            </a:endParaRPr>
          </a:p>
        </p:txBody>
      </p:sp>
      <p:sp>
        <p:nvSpPr>
          <p:cNvPr id="7" name="object 7"/>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1862455" cy="513715"/>
          </a:xfrm>
          <a:prstGeom prst="rect">
            <a:avLst/>
          </a:prstGeom>
        </p:spPr>
        <p:txBody>
          <a:bodyPr vert="horz" wrap="square" lIns="0" tIns="12700" rIns="0" bIns="0" rtlCol="0">
            <a:spAutoFit/>
          </a:bodyPr>
          <a:lstStyle/>
          <a:p>
            <a:pPr marL="12700">
              <a:lnSpc>
                <a:spcPct val="100000"/>
              </a:lnSpc>
              <a:spcBef>
                <a:spcPts val="100"/>
              </a:spcBef>
            </a:pPr>
            <a:r>
              <a:rPr sz="3200" spc="-5" dirty="0"/>
              <a:t>Conclusi</a:t>
            </a:r>
            <a:r>
              <a:rPr sz="3200" spc="-15" dirty="0"/>
              <a:t>o</a:t>
            </a:r>
            <a:r>
              <a:rPr sz="3200" dirty="0"/>
              <a:t>n</a:t>
            </a:r>
            <a:endParaRPr sz="320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a:spLocks noGrp="1"/>
          </p:cNvSpPr>
          <p:nvPr>
            <p:ph type="body" idx="1"/>
          </p:nvPr>
        </p:nvSpPr>
        <p:spPr>
          <a:xfrm>
            <a:off x="298133" y="1676537"/>
            <a:ext cx="11595734" cy="2028761"/>
          </a:xfrm>
          <a:prstGeom prst="rect">
            <a:avLst/>
          </a:prstGeom>
        </p:spPr>
        <p:txBody>
          <a:bodyPr vert="horz" wrap="square" lIns="0" tIns="12700" rIns="0" bIns="0" rtlCol="0">
            <a:spAutoFit/>
          </a:bodyPr>
          <a:lstStyle/>
          <a:p>
            <a:pPr marL="441959" indent="-287020">
              <a:lnSpc>
                <a:spcPct val="100000"/>
              </a:lnSpc>
              <a:spcBef>
                <a:spcPts val="100"/>
              </a:spcBef>
              <a:buFont typeface="Arial"/>
              <a:buChar char="•"/>
              <a:tabLst>
                <a:tab pos="441959" algn="l"/>
                <a:tab pos="442595" algn="l"/>
              </a:tabLst>
            </a:pPr>
            <a:r>
              <a:rPr lang="en-US" dirty="0"/>
              <a:t>We will be able to transfer ourselves into computers at some point.</a:t>
            </a:r>
          </a:p>
          <a:p>
            <a:pPr marL="441959" indent="-287020">
              <a:lnSpc>
                <a:spcPct val="100000"/>
              </a:lnSpc>
              <a:spcBef>
                <a:spcPts val="100"/>
              </a:spcBef>
              <a:buFont typeface="Arial"/>
              <a:buChar char="•"/>
              <a:tabLst>
                <a:tab pos="441959" algn="l"/>
                <a:tab pos="442595" algn="l"/>
              </a:tabLst>
            </a:pPr>
            <a:endParaRPr lang="en-US" dirty="0"/>
          </a:p>
          <a:p>
            <a:pPr marL="441959" indent="-287020">
              <a:lnSpc>
                <a:spcPct val="100000"/>
              </a:lnSpc>
              <a:spcBef>
                <a:spcPts val="100"/>
              </a:spcBef>
              <a:buFont typeface="Arial"/>
              <a:buChar char="•"/>
              <a:tabLst>
                <a:tab pos="441959" algn="l"/>
                <a:tab pos="442595" algn="l"/>
              </a:tabLst>
            </a:pPr>
            <a:r>
              <a:rPr lang="en-US" dirty="0"/>
              <a:t>It will bring both benefits and harm to human society .</a:t>
            </a:r>
          </a:p>
          <a:p>
            <a:pPr marL="441959" indent="-287020">
              <a:lnSpc>
                <a:spcPct val="100000"/>
              </a:lnSpc>
              <a:spcBef>
                <a:spcPts val="100"/>
              </a:spcBef>
              <a:buFont typeface="Arial"/>
              <a:buChar char="•"/>
              <a:tabLst>
                <a:tab pos="441959" algn="l"/>
                <a:tab pos="442595" algn="l"/>
              </a:tabLst>
            </a:pPr>
            <a:endParaRPr lang="en-US" dirty="0"/>
          </a:p>
          <a:p>
            <a:pPr marL="441959" indent="-287020">
              <a:lnSpc>
                <a:spcPct val="100000"/>
              </a:lnSpc>
              <a:spcBef>
                <a:spcPts val="100"/>
              </a:spcBef>
              <a:buFont typeface="Arial"/>
              <a:buChar char="•"/>
              <a:tabLst>
                <a:tab pos="441959" algn="l"/>
                <a:tab pos="442595" algn="l"/>
              </a:tabLst>
            </a:pPr>
            <a:r>
              <a:rPr lang="en-US" dirty="0"/>
              <a:t>Eventually aim of applying terrific computer power to the simulation of an entire brain.</a:t>
            </a:r>
          </a:p>
          <a:p>
            <a:pPr marL="441959" indent="-287020">
              <a:lnSpc>
                <a:spcPct val="100000"/>
              </a:lnSpc>
              <a:spcBef>
                <a:spcPts val="100"/>
              </a:spcBef>
              <a:buFont typeface="Arial"/>
              <a:buChar char="•"/>
              <a:tabLst>
                <a:tab pos="441959" algn="l"/>
                <a:tab pos="442595" algn="l"/>
              </a:tabLst>
            </a:pPr>
            <a:endParaRPr lang="en-US" dirty="0"/>
          </a:p>
          <a:p>
            <a:pPr marL="441959" indent="-287020">
              <a:lnSpc>
                <a:spcPct val="100000"/>
              </a:lnSpc>
              <a:spcBef>
                <a:spcPts val="100"/>
              </a:spcBef>
              <a:buFont typeface="Arial"/>
              <a:buChar char="•"/>
              <a:tabLst>
                <a:tab pos="441959" algn="l"/>
                <a:tab pos="442595" algn="l"/>
              </a:tabLst>
            </a:pPr>
            <a:r>
              <a:rPr lang="en-US" dirty="0"/>
              <a:t>Very soon this technology will be highly accepted all over the world. </a:t>
            </a:r>
            <a:endParaRPr spc="-25" dirty="0"/>
          </a:p>
        </p:txBody>
      </p:sp>
      <p:sp>
        <p:nvSpPr>
          <p:cNvPr id="7" name="object 7"/>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228282"/>
            <a:ext cx="1880235" cy="513715"/>
          </a:xfrm>
          <a:prstGeom prst="rect">
            <a:avLst/>
          </a:prstGeom>
        </p:spPr>
        <p:txBody>
          <a:bodyPr vert="horz" wrap="square" lIns="0" tIns="12700" rIns="0" bIns="0" rtlCol="0">
            <a:spAutoFit/>
          </a:bodyPr>
          <a:lstStyle/>
          <a:p>
            <a:pPr marL="12700">
              <a:lnSpc>
                <a:spcPct val="100000"/>
              </a:lnSpc>
              <a:spcBef>
                <a:spcPts val="100"/>
              </a:spcBef>
            </a:pPr>
            <a:r>
              <a:rPr sz="3200" spc="-20" dirty="0"/>
              <a:t>References</a:t>
            </a:r>
            <a:endParaRPr sz="3200"/>
          </a:p>
        </p:txBody>
      </p:sp>
      <p:grpSp>
        <p:nvGrpSpPr>
          <p:cNvPr id="3" name="object 3"/>
          <p:cNvGrpSpPr/>
          <p:nvPr/>
        </p:nvGrpSpPr>
        <p:grpSpPr>
          <a:xfrm>
            <a:off x="-5080" y="937260"/>
            <a:ext cx="12204700" cy="58419"/>
            <a:chOff x="-5080" y="937260"/>
            <a:chExt cx="12204700" cy="58419"/>
          </a:xfrm>
        </p:grpSpPr>
        <p:sp>
          <p:nvSpPr>
            <p:cNvPr id="4" name="object 4"/>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5" name="object 5"/>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6" name="object 6"/>
          <p:cNvSpPr txBox="1"/>
          <p:nvPr/>
        </p:nvSpPr>
        <p:spPr>
          <a:xfrm>
            <a:off x="342582" y="1213738"/>
            <a:ext cx="11612245" cy="4225965"/>
          </a:xfrm>
          <a:prstGeom prst="rect">
            <a:avLst/>
          </a:prstGeom>
        </p:spPr>
        <p:txBody>
          <a:bodyPr vert="horz" wrap="square" lIns="0" tIns="12700" rIns="0" bIns="0" rtlCol="0">
            <a:spAutoFit/>
          </a:bodyPr>
          <a:lstStyle/>
          <a:p>
            <a:pPr marL="12700" marR="102235">
              <a:lnSpc>
                <a:spcPct val="150100"/>
              </a:lnSpc>
              <a:spcBef>
                <a:spcPts val="100"/>
              </a:spcBef>
              <a:tabLst>
                <a:tab pos="325755" algn="l"/>
              </a:tabLst>
            </a:pPr>
            <a:r>
              <a:rPr lang="en-IN" dirty="0"/>
              <a:t>[1] The Blue brain project, Hill, Sean: Markham Henry, International conference of IEEE 2008. </a:t>
            </a:r>
          </a:p>
          <a:p>
            <a:pPr marL="12700" marR="102235">
              <a:lnSpc>
                <a:spcPct val="150100"/>
              </a:lnSpc>
              <a:spcBef>
                <a:spcPts val="100"/>
              </a:spcBef>
              <a:tabLst>
                <a:tab pos="325755" algn="l"/>
              </a:tabLst>
            </a:pPr>
            <a:endParaRPr lang="en-IN" dirty="0"/>
          </a:p>
          <a:p>
            <a:pPr marL="12700" marR="102235">
              <a:lnSpc>
                <a:spcPct val="150100"/>
              </a:lnSpc>
              <a:spcBef>
                <a:spcPts val="100"/>
              </a:spcBef>
              <a:tabLst>
                <a:tab pos="325755" algn="l"/>
              </a:tabLst>
            </a:pPr>
            <a:r>
              <a:rPr lang="en-IN" dirty="0"/>
              <a:t>[2] Henry Markram, "The Blue Brain Project", Nature Reviews Neuroscience, 7:153-160, 2006 February. </a:t>
            </a:r>
          </a:p>
          <a:p>
            <a:pPr marL="12700" marR="102235">
              <a:lnSpc>
                <a:spcPct val="150100"/>
              </a:lnSpc>
              <a:spcBef>
                <a:spcPts val="100"/>
              </a:spcBef>
              <a:tabLst>
                <a:tab pos="325755" algn="l"/>
              </a:tabLst>
            </a:pPr>
            <a:endParaRPr lang="en-IN" dirty="0"/>
          </a:p>
          <a:p>
            <a:pPr marL="12700" marR="102235">
              <a:lnSpc>
                <a:spcPct val="150100"/>
              </a:lnSpc>
              <a:spcBef>
                <a:spcPts val="100"/>
              </a:spcBef>
              <a:tabLst>
                <a:tab pos="325755" algn="l"/>
              </a:tabLst>
            </a:pPr>
            <a:r>
              <a:rPr lang="en-IN" dirty="0"/>
              <a:t>[3] Reconstructing the Heart of Mammalian Intelligence, Henry Mark ram’s lecture, March 4 2008. </a:t>
            </a:r>
          </a:p>
          <a:p>
            <a:pPr marL="12700" marR="102235">
              <a:lnSpc>
                <a:spcPct val="150100"/>
              </a:lnSpc>
              <a:spcBef>
                <a:spcPts val="100"/>
              </a:spcBef>
              <a:tabLst>
                <a:tab pos="325755" algn="l"/>
              </a:tabLst>
            </a:pPr>
            <a:endParaRPr lang="en-IN" dirty="0"/>
          </a:p>
          <a:p>
            <a:pPr marL="12700" marR="102235">
              <a:lnSpc>
                <a:spcPct val="150100"/>
              </a:lnSpc>
              <a:spcBef>
                <a:spcPts val="100"/>
              </a:spcBef>
              <a:tabLst>
                <a:tab pos="325755" algn="l"/>
              </a:tabLst>
            </a:pPr>
            <a:r>
              <a:rPr lang="en-IN" dirty="0"/>
              <a:t>[4] Henry Mark ram builds a brain in supercomputer, TED conference July 2009 </a:t>
            </a:r>
          </a:p>
          <a:p>
            <a:pPr marL="12700" marR="102235">
              <a:lnSpc>
                <a:spcPct val="150100"/>
              </a:lnSpc>
              <a:spcBef>
                <a:spcPts val="100"/>
              </a:spcBef>
              <a:tabLst>
                <a:tab pos="325755" algn="l"/>
              </a:tabLst>
            </a:pPr>
            <a:endParaRPr lang="en-IN" dirty="0"/>
          </a:p>
          <a:p>
            <a:pPr marL="12700" marR="102235">
              <a:lnSpc>
                <a:spcPct val="150100"/>
              </a:lnSpc>
              <a:spcBef>
                <a:spcPts val="100"/>
              </a:spcBef>
              <a:tabLst>
                <a:tab pos="325755" algn="l"/>
              </a:tabLst>
            </a:pPr>
            <a:r>
              <a:rPr lang="en-IN" dirty="0"/>
              <a:t>[5] “Research paper 2014 Fourth International Conference on Communication Systems and Network Technologies by Swati Sharma, </a:t>
            </a:r>
            <a:r>
              <a:rPr lang="en-IN" dirty="0" err="1"/>
              <a:t>Nitisha</a:t>
            </a:r>
            <a:r>
              <a:rPr lang="en-IN" dirty="0"/>
              <a:t> Payal, Ankur Kaushik, Nitin Goel from MIET, Meerut” </a:t>
            </a:r>
            <a:endParaRPr sz="1800" dirty="0">
              <a:latin typeface="Times New Roman"/>
              <a:cs typeface="Times New Roman"/>
            </a:endParaRPr>
          </a:p>
        </p:txBody>
      </p:sp>
      <p:sp>
        <p:nvSpPr>
          <p:cNvPr id="7" name="object 7"/>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080" y="937260"/>
            <a:ext cx="12204700" cy="58419"/>
            <a:chOff x="-5080" y="937260"/>
            <a:chExt cx="12204700" cy="58419"/>
          </a:xfrm>
        </p:grpSpPr>
        <p:sp>
          <p:nvSpPr>
            <p:cNvPr id="3" name="object 3"/>
            <p:cNvSpPr/>
            <p:nvPr/>
          </p:nvSpPr>
          <p:spPr>
            <a:xfrm>
              <a:off x="1269" y="943610"/>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001F5F"/>
            </a:solidFill>
          </p:spPr>
          <p:txBody>
            <a:bodyPr wrap="square" lIns="0" tIns="0" rIns="0" bIns="0" rtlCol="0"/>
            <a:lstStyle/>
            <a:p>
              <a:endParaRPr/>
            </a:p>
          </p:txBody>
        </p:sp>
        <p:sp>
          <p:nvSpPr>
            <p:cNvPr id="4" name="object 4"/>
            <p:cNvSpPr/>
            <p:nvPr/>
          </p:nvSpPr>
          <p:spPr>
            <a:xfrm>
              <a:off x="1269" y="943610"/>
              <a:ext cx="12192000" cy="45720"/>
            </a:xfrm>
            <a:custGeom>
              <a:avLst/>
              <a:gdLst/>
              <a:ahLst/>
              <a:cxnLst/>
              <a:rect l="l" t="t" r="r" b="b"/>
              <a:pathLst>
                <a:path w="12192000" h="45719">
                  <a:moveTo>
                    <a:pt x="0" y="45720"/>
                  </a:moveTo>
                  <a:lnTo>
                    <a:pt x="12192000" y="45720"/>
                  </a:lnTo>
                  <a:lnTo>
                    <a:pt x="12192000" y="0"/>
                  </a:lnTo>
                  <a:lnTo>
                    <a:pt x="0" y="0"/>
                  </a:lnTo>
                  <a:lnTo>
                    <a:pt x="0" y="45720"/>
                  </a:lnTo>
                  <a:close/>
                </a:path>
              </a:pathLst>
            </a:custGeom>
            <a:ln w="12700">
              <a:solidFill>
                <a:srgbClr val="00AFEF"/>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700" rIns="0" bIns="0" rtlCol="0">
            <a:spAutoFit/>
          </a:bodyPr>
          <a:lstStyle/>
          <a:p>
            <a:pPr marL="14604">
              <a:lnSpc>
                <a:spcPct val="100000"/>
              </a:lnSpc>
              <a:spcBef>
                <a:spcPts val="100"/>
              </a:spcBef>
            </a:pPr>
            <a:r>
              <a:rPr spc="-5" dirty="0"/>
              <a:t>Thank</a:t>
            </a:r>
            <a:r>
              <a:rPr spc="-105" dirty="0"/>
              <a:t> </a:t>
            </a:r>
            <a:r>
              <a:rPr spc="-20" dirty="0"/>
              <a:t>you</a:t>
            </a:r>
          </a:p>
        </p:txBody>
      </p:sp>
      <p:sp>
        <p:nvSpPr>
          <p:cNvPr id="6" name="object 6"/>
          <p:cNvSpPr txBox="1">
            <a:spLocks noGrp="1"/>
          </p:cNvSpPr>
          <p:nvPr>
            <p:ph type="dt" sz="half" idx="6"/>
          </p:nvPr>
        </p:nvSpPr>
        <p:spPr>
          <a:prstGeom prst="rect">
            <a:avLst/>
          </a:prstGeom>
        </p:spPr>
        <p:txBody>
          <a:bodyPr vert="horz" wrap="square" lIns="0" tIns="1905" rIns="0" bIns="0" rtlCol="0">
            <a:spAutoFit/>
          </a:bodyPr>
          <a:lstStyle/>
          <a:p>
            <a:pPr marL="12700">
              <a:lnSpc>
                <a:spcPct val="100000"/>
              </a:lnSpc>
              <a:spcBef>
                <a:spcPts val="15"/>
              </a:spcBef>
            </a:pPr>
            <a:r>
              <a:rPr spc="-5" dirty="0"/>
              <a:t>29</a:t>
            </a:r>
            <a:r>
              <a:rPr spc="-10" dirty="0"/>
              <a:t>-</a:t>
            </a:r>
            <a:r>
              <a:rPr spc="-5" dirty="0"/>
              <a:t>03</a:t>
            </a:r>
            <a:r>
              <a:rPr spc="-10" dirty="0"/>
              <a:t>-</a:t>
            </a:r>
            <a:r>
              <a:rPr spc="-5" dirty="0"/>
              <a:t>2023</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2000"/>
              </a:lnSpc>
            </a:pPr>
            <a:r>
              <a:rPr spc="-10" dirty="0"/>
              <a:t>Dayananda Sagar Academy </a:t>
            </a:r>
            <a:r>
              <a:rPr dirty="0"/>
              <a:t>of </a:t>
            </a:r>
            <a:r>
              <a:rPr spc="-20" dirty="0"/>
              <a:t>Technology </a:t>
            </a:r>
            <a:r>
              <a:rPr dirty="0"/>
              <a:t>&amp;</a:t>
            </a:r>
            <a:r>
              <a:rPr spc="-5" dirty="0"/>
              <a:t>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TotalTime>
  <Words>1490</Words>
  <Application>Microsoft Office PowerPoint</Application>
  <PresentationFormat>Widescreen</PresentationFormat>
  <Paragraphs>171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Bookman Uralic</vt:lpstr>
      <vt:lpstr>Calibri</vt:lpstr>
      <vt:lpstr>Carlito</vt:lpstr>
      <vt:lpstr>Times New Roman</vt:lpstr>
      <vt:lpstr>Office Theme</vt:lpstr>
      <vt:lpstr>PowerPoint Presentation</vt:lpstr>
      <vt:lpstr>Introduction</vt:lpstr>
      <vt:lpstr>What Is Blue Brain?</vt:lpstr>
      <vt:lpstr>How Natural Brain Works?</vt:lpstr>
      <vt:lpstr>How Natural Brain Works?</vt:lpstr>
      <vt:lpstr>SIMULATION</vt:lpstr>
      <vt:lpstr>UPLOADING HUMAN BRAIN</vt:lpstr>
      <vt:lpstr>BLUE BRAIN POWER</vt:lpstr>
      <vt:lpstr>BLUE BRAIN PROJECT</vt:lpstr>
      <vt:lpstr>UPLOADING HUMAN BRAIN </vt:lpstr>
      <vt:lpstr>BLUE BRAIN SIMULATION USING MICROPROCESSOR</vt:lpstr>
      <vt:lpstr>BENEFITS OF BLUE BRAIN</vt:lpstr>
      <vt:lpstr>Applications</vt:lpstr>
      <vt:lpstr>Challenges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DSATM</dc:creator>
  <cp:lastModifiedBy>madhu sudhan</cp:lastModifiedBy>
  <cp:revision>20</cp:revision>
  <dcterms:created xsi:type="dcterms:W3CDTF">2023-03-28T09:48:58Z</dcterms:created>
  <dcterms:modified xsi:type="dcterms:W3CDTF">2023-03-30T03:09:02Z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2023-03-27T00:00:00Z</vt:filetime>
  </property>
  <property fmtid="{D5CDD505-2E9C-101B-9397-08002B2CF9AE}" pid="3" name="Creator">
    <vt:lpwstr>Microsoft® PowerPoint® 2019</vt:lpwstr>
  </property>
  <property fmtid="{D5CDD505-2E9C-101B-9397-08002B2CF9AE}" pid="4" name="LastSaved">
    <vt:filetime>2023-03-28T00:00:00Z</vt:filetime>
  </property>
</Properties>
</file>